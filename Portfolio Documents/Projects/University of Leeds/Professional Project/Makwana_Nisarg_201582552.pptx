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4"/>
  </p:sldMasterIdLst>
  <p:notesMasterIdLst>
    <p:notesMasterId r:id="rId21"/>
  </p:notesMasterIdLst>
  <p:sldIdLst>
    <p:sldId id="257" r:id="rId5"/>
    <p:sldId id="259" r:id="rId6"/>
    <p:sldId id="272" r:id="rId7"/>
    <p:sldId id="260" r:id="rId8"/>
    <p:sldId id="270" r:id="rId9"/>
    <p:sldId id="271" r:id="rId10"/>
    <p:sldId id="267" r:id="rId11"/>
    <p:sldId id="273" r:id="rId12"/>
    <p:sldId id="265" r:id="rId13"/>
    <p:sldId id="262" r:id="rId14"/>
    <p:sldId id="278" r:id="rId15"/>
    <p:sldId id="276" r:id="rId16"/>
    <p:sldId id="275" r:id="rId17"/>
    <p:sldId id="279" r:id="rId18"/>
    <p:sldId id="26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D0E6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887C12-7437-4C49-9EAB-F144341B741C}" v="174" dt="2022-06-29T11:29:11.499"/>
    <p1510:client id="{55306329-EBA2-5BFF-58F6-974B2737021E}" v="316" dt="2022-06-29T15:26:15.149"/>
    <p1510:client id="{C897A99C-57C9-444A-AC12-8E894568291B}" v="1619" dt="2022-06-29T21:43:15.0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1" autoAdjust="0"/>
    <p:restoredTop sz="85098" autoAdjust="0"/>
  </p:normalViewPr>
  <p:slideViewPr>
    <p:cSldViewPr snapToGrid="0">
      <p:cViewPr varScale="1">
        <p:scale>
          <a:sx n="70" d="100"/>
          <a:sy n="70" d="100"/>
        </p:scale>
        <p:origin x="94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4528ED-E0ED-4B8A-8F18-C6BB69F811A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4363E6F-4D78-4DE9-8761-AE08230EF6B9}">
      <dgm:prSet custT="1"/>
      <dgm:spPr/>
      <dgm:t>
        <a:bodyPr/>
        <a:lstStyle/>
        <a:p>
          <a:r>
            <a:rPr lang="en-US" sz="2400" dirty="0"/>
            <a:t>Literature review</a:t>
          </a:r>
        </a:p>
      </dgm:t>
    </dgm:pt>
    <dgm:pt modelId="{2E0C0BEB-7209-43A8-B99E-2E431F70FB3C}" type="parTrans" cxnId="{4E6ED5E8-2262-4190-8DD3-5D0D5E4D9423}">
      <dgm:prSet/>
      <dgm:spPr/>
      <dgm:t>
        <a:bodyPr/>
        <a:lstStyle/>
        <a:p>
          <a:endParaRPr lang="en-US"/>
        </a:p>
      </dgm:t>
    </dgm:pt>
    <dgm:pt modelId="{3C470281-9456-4F46-A670-A6921F9FC38E}" type="sibTrans" cxnId="{4E6ED5E8-2262-4190-8DD3-5D0D5E4D9423}">
      <dgm:prSet/>
      <dgm:spPr/>
      <dgm:t>
        <a:bodyPr/>
        <a:lstStyle/>
        <a:p>
          <a:endParaRPr lang="en-US"/>
        </a:p>
      </dgm:t>
    </dgm:pt>
    <dgm:pt modelId="{774DF47A-61C8-4B8D-9051-AACC97D76A8E}">
      <dgm:prSet custT="1"/>
      <dgm:spPr/>
      <dgm:t>
        <a:bodyPr/>
        <a:lstStyle/>
        <a:p>
          <a:r>
            <a:rPr lang="en-US" sz="2400" dirty="0"/>
            <a:t>Building CAD geometry</a:t>
          </a:r>
        </a:p>
      </dgm:t>
    </dgm:pt>
    <dgm:pt modelId="{4E89BE1D-1D13-4C78-9286-DE5BEBA1668A}" type="parTrans" cxnId="{7CE97A5E-85BE-4D16-A0C9-857DA9C7E461}">
      <dgm:prSet/>
      <dgm:spPr/>
      <dgm:t>
        <a:bodyPr/>
        <a:lstStyle/>
        <a:p>
          <a:endParaRPr lang="en-US"/>
        </a:p>
      </dgm:t>
    </dgm:pt>
    <dgm:pt modelId="{549A8700-5238-4929-A9DF-67583C336F5F}" type="sibTrans" cxnId="{7CE97A5E-85BE-4D16-A0C9-857DA9C7E461}">
      <dgm:prSet/>
      <dgm:spPr/>
      <dgm:t>
        <a:bodyPr/>
        <a:lstStyle/>
        <a:p>
          <a:endParaRPr lang="en-US"/>
        </a:p>
      </dgm:t>
    </dgm:pt>
    <dgm:pt modelId="{6EA6739D-87DF-460A-9013-FCBF4CF936B2}">
      <dgm:prSet custT="1"/>
      <dgm:spPr/>
      <dgm:t>
        <a:bodyPr/>
        <a:lstStyle/>
        <a:p>
          <a:r>
            <a:rPr lang="en-US" sz="2400" dirty="0"/>
            <a:t>Developing mixing design for external turbulence</a:t>
          </a:r>
        </a:p>
      </dgm:t>
    </dgm:pt>
    <dgm:pt modelId="{67667AD2-D9CD-49CC-9B2A-29126F996534}" type="parTrans" cxnId="{F4CD8CEB-9AFF-4BED-95EB-B008BF6A7DE5}">
      <dgm:prSet/>
      <dgm:spPr/>
      <dgm:t>
        <a:bodyPr/>
        <a:lstStyle/>
        <a:p>
          <a:endParaRPr lang="en-US"/>
        </a:p>
      </dgm:t>
    </dgm:pt>
    <dgm:pt modelId="{7AD7E599-5F8B-439B-9D5C-F97F84C94C41}" type="sibTrans" cxnId="{F4CD8CEB-9AFF-4BED-95EB-B008BF6A7DE5}">
      <dgm:prSet/>
      <dgm:spPr/>
      <dgm:t>
        <a:bodyPr/>
        <a:lstStyle/>
        <a:p>
          <a:endParaRPr lang="en-US"/>
        </a:p>
      </dgm:t>
    </dgm:pt>
    <dgm:pt modelId="{CBF80CAC-7E6F-4118-BC5C-CD6FDC65D6BF}">
      <dgm:prSet custT="1"/>
      <dgm:spPr/>
      <dgm:t>
        <a:bodyPr/>
        <a:lstStyle/>
        <a:p>
          <a:r>
            <a:rPr lang="en-US" sz="2400" dirty="0"/>
            <a:t>Performing parametric tests and result  visualization</a:t>
          </a:r>
        </a:p>
      </dgm:t>
    </dgm:pt>
    <dgm:pt modelId="{D7A5500F-EBE9-4BEC-8126-7B2A251DC1DB}" type="parTrans" cxnId="{4851EFAB-F043-4399-AE31-6EDA084A72B7}">
      <dgm:prSet/>
      <dgm:spPr/>
      <dgm:t>
        <a:bodyPr/>
        <a:lstStyle/>
        <a:p>
          <a:endParaRPr lang="en-US"/>
        </a:p>
      </dgm:t>
    </dgm:pt>
    <dgm:pt modelId="{4AE976B2-0AC1-48C2-A2D8-ED7E74696432}" type="sibTrans" cxnId="{4851EFAB-F043-4399-AE31-6EDA084A72B7}">
      <dgm:prSet/>
      <dgm:spPr/>
      <dgm:t>
        <a:bodyPr/>
        <a:lstStyle/>
        <a:p>
          <a:endParaRPr lang="en-US"/>
        </a:p>
      </dgm:t>
    </dgm:pt>
    <dgm:pt modelId="{958D79C9-354A-4CAA-A31B-2EA4F317210B}">
      <dgm:prSet custT="1"/>
      <dgm:spPr/>
      <dgm:t>
        <a:bodyPr/>
        <a:lstStyle/>
        <a:p>
          <a:r>
            <a:rPr lang="en-US" sz="2400" b="0" dirty="0"/>
            <a:t>Testing of modified geometrical model to analyze the performance </a:t>
          </a:r>
        </a:p>
      </dgm:t>
    </dgm:pt>
    <dgm:pt modelId="{4E823E4F-D883-4F94-9353-9D749232D6A0}" type="parTrans" cxnId="{17BD41E1-10AF-4785-9C22-6FDF3CD990DF}">
      <dgm:prSet/>
      <dgm:spPr/>
      <dgm:t>
        <a:bodyPr/>
        <a:lstStyle/>
        <a:p>
          <a:endParaRPr lang="en-US"/>
        </a:p>
      </dgm:t>
    </dgm:pt>
    <dgm:pt modelId="{FC04873E-D7C0-4C57-B781-257AA3F79D29}" type="sibTrans" cxnId="{17BD41E1-10AF-4785-9C22-6FDF3CD990DF}">
      <dgm:prSet/>
      <dgm:spPr/>
      <dgm:t>
        <a:bodyPr/>
        <a:lstStyle/>
        <a:p>
          <a:endParaRPr lang="en-US"/>
        </a:p>
      </dgm:t>
    </dgm:pt>
    <dgm:pt modelId="{3DDA27EE-8097-42E5-8CE6-6E812CF1C04D}">
      <dgm:prSet custT="1"/>
      <dgm:spPr/>
      <dgm:t>
        <a:bodyPr/>
        <a:lstStyle/>
        <a:p>
          <a:r>
            <a:rPr lang="en-US" sz="2400" dirty="0"/>
            <a:t>Suggest new potential designs to improve performance.</a:t>
          </a:r>
        </a:p>
      </dgm:t>
    </dgm:pt>
    <dgm:pt modelId="{15E484F1-010A-49E7-A69A-88257A65C08E}" type="parTrans" cxnId="{3FB68F88-E15E-4AAF-88FD-53C76F95E72C}">
      <dgm:prSet/>
      <dgm:spPr/>
      <dgm:t>
        <a:bodyPr/>
        <a:lstStyle/>
        <a:p>
          <a:endParaRPr lang="en-US"/>
        </a:p>
      </dgm:t>
    </dgm:pt>
    <dgm:pt modelId="{9A8FF01B-5CFD-4F21-A4EB-8676EDEA758F}" type="sibTrans" cxnId="{3FB68F88-E15E-4AAF-88FD-53C76F95E72C}">
      <dgm:prSet/>
      <dgm:spPr/>
      <dgm:t>
        <a:bodyPr/>
        <a:lstStyle/>
        <a:p>
          <a:endParaRPr lang="en-US"/>
        </a:p>
      </dgm:t>
    </dgm:pt>
    <dgm:pt modelId="{1348520F-8D40-43D6-B0A8-EBFDD93AB176}" type="pres">
      <dgm:prSet presAssocID="{EE4528ED-E0ED-4B8A-8F18-C6BB69F811AF}" presName="vert0" presStyleCnt="0">
        <dgm:presLayoutVars>
          <dgm:dir/>
          <dgm:animOne val="branch"/>
          <dgm:animLvl val="lvl"/>
        </dgm:presLayoutVars>
      </dgm:prSet>
      <dgm:spPr/>
    </dgm:pt>
    <dgm:pt modelId="{A8B077A3-4D84-4F14-89F4-A120AA971A07}" type="pres">
      <dgm:prSet presAssocID="{C4363E6F-4D78-4DE9-8761-AE08230EF6B9}" presName="thickLine" presStyleLbl="alignNode1" presStyleIdx="0" presStyleCnt="6"/>
      <dgm:spPr/>
    </dgm:pt>
    <dgm:pt modelId="{4E9A15CA-6DED-4C98-AAD7-40BD62A2366D}" type="pres">
      <dgm:prSet presAssocID="{C4363E6F-4D78-4DE9-8761-AE08230EF6B9}" presName="horz1" presStyleCnt="0"/>
      <dgm:spPr/>
    </dgm:pt>
    <dgm:pt modelId="{AFAB2368-A0B8-42CF-843A-87286F66412B}" type="pres">
      <dgm:prSet presAssocID="{C4363E6F-4D78-4DE9-8761-AE08230EF6B9}" presName="tx1" presStyleLbl="revTx" presStyleIdx="0" presStyleCnt="6" custScaleY="93183"/>
      <dgm:spPr/>
    </dgm:pt>
    <dgm:pt modelId="{9A9D12CF-E2F7-4EDC-BF82-95768E50430C}" type="pres">
      <dgm:prSet presAssocID="{C4363E6F-4D78-4DE9-8761-AE08230EF6B9}" presName="vert1" presStyleCnt="0"/>
      <dgm:spPr/>
    </dgm:pt>
    <dgm:pt modelId="{44E2484D-BF48-44A5-891C-44EDFCD2FE90}" type="pres">
      <dgm:prSet presAssocID="{774DF47A-61C8-4B8D-9051-AACC97D76A8E}" presName="thickLine" presStyleLbl="alignNode1" presStyleIdx="1" presStyleCnt="6"/>
      <dgm:spPr/>
    </dgm:pt>
    <dgm:pt modelId="{8A215AAD-BE02-4DF2-BB8C-6E4490A3E3F7}" type="pres">
      <dgm:prSet presAssocID="{774DF47A-61C8-4B8D-9051-AACC97D76A8E}" presName="horz1" presStyleCnt="0"/>
      <dgm:spPr/>
    </dgm:pt>
    <dgm:pt modelId="{FDADCA99-37A7-45E4-A6F3-7F601C318D23}" type="pres">
      <dgm:prSet presAssocID="{774DF47A-61C8-4B8D-9051-AACC97D76A8E}" presName="tx1" presStyleLbl="revTx" presStyleIdx="1" presStyleCnt="6" custScaleY="88988"/>
      <dgm:spPr/>
    </dgm:pt>
    <dgm:pt modelId="{E7D107B7-B644-4FD3-95A1-D070447251F2}" type="pres">
      <dgm:prSet presAssocID="{774DF47A-61C8-4B8D-9051-AACC97D76A8E}" presName="vert1" presStyleCnt="0"/>
      <dgm:spPr/>
    </dgm:pt>
    <dgm:pt modelId="{94E695AB-2D05-47FA-AE07-CE4D69EE4C86}" type="pres">
      <dgm:prSet presAssocID="{6EA6739D-87DF-460A-9013-FCBF4CF936B2}" presName="thickLine" presStyleLbl="alignNode1" presStyleIdx="2" presStyleCnt="6"/>
      <dgm:spPr/>
    </dgm:pt>
    <dgm:pt modelId="{07742DF5-6C25-43E7-BE9E-C075A0EF8CBD}" type="pres">
      <dgm:prSet presAssocID="{6EA6739D-87DF-460A-9013-FCBF4CF936B2}" presName="horz1" presStyleCnt="0"/>
      <dgm:spPr/>
    </dgm:pt>
    <dgm:pt modelId="{CD6B260E-1054-413D-AECA-AE865D0A0CEC}" type="pres">
      <dgm:prSet presAssocID="{6EA6739D-87DF-460A-9013-FCBF4CF936B2}" presName="tx1" presStyleLbl="revTx" presStyleIdx="2" presStyleCnt="6" custScaleY="112179"/>
      <dgm:spPr/>
    </dgm:pt>
    <dgm:pt modelId="{C509E8D3-548B-4BD3-A516-46BC6A420D3F}" type="pres">
      <dgm:prSet presAssocID="{6EA6739D-87DF-460A-9013-FCBF4CF936B2}" presName="vert1" presStyleCnt="0"/>
      <dgm:spPr/>
    </dgm:pt>
    <dgm:pt modelId="{4002028A-8ADF-4911-9FEA-881BD66A1DEA}" type="pres">
      <dgm:prSet presAssocID="{CBF80CAC-7E6F-4118-BC5C-CD6FDC65D6BF}" presName="thickLine" presStyleLbl="alignNode1" presStyleIdx="3" presStyleCnt="6"/>
      <dgm:spPr/>
    </dgm:pt>
    <dgm:pt modelId="{C929FB03-BE4D-48FE-A610-F09D5FEDA4B4}" type="pres">
      <dgm:prSet presAssocID="{CBF80CAC-7E6F-4118-BC5C-CD6FDC65D6BF}" presName="horz1" presStyleCnt="0"/>
      <dgm:spPr/>
    </dgm:pt>
    <dgm:pt modelId="{AE473ED0-1749-4B73-9D35-4A187D63BD82}" type="pres">
      <dgm:prSet presAssocID="{CBF80CAC-7E6F-4118-BC5C-CD6FDC65D6BF}" presName="tx1" presStyleLbl="revTx" presStyleIdx="3" presStyleCnt="6"/>
      <dgm:spPr/>
    </dgm:pt>
    <dgm:pt modelId="{DCA0C26F-6B9E-40E2-9395-665A5252178B}" type="pres">
      <dgm:prSet presAssocID="{CBF80CAC-7E6F-4118-BC5C-CD6FDC65D6BF}" presName="vert1" presStyleCnt="0"/>
      <dgm:spPr/>
    </dgm:pt>
    <dgm:pt modelId="{49C7663A-C3DB-4E3F-BFC9-0CC28C2439C6}" type="pres">
      <dgm:prSet presAssocID="{958D79C9-354A-4CAA-A31B-2EA4F317210B}" presName="thickLine" presStyleLbl="alignNode1" presStyleIdx="4" presStyleCnt="6"/>
      <dgm:spPr/>
    </dgm:pt>
    <dgm:pt modelId="{C6149C7A-EC9E-4EEC-B8A3-F3E2068B9324}" type="pres">
      <dgm:prSet presAssocID="{958D79C9-354A-4CAA-A31B-2EA4F317210B}" presName="horz1" presStyleCnt="0"/>
      <dgm:spPr/>
    </dgm:pt>
    <dgm:pt modelId="{3E16F8C4-C8F2-457B-B277-AEC7420C396A}" type="pres">
      <dgm:prSet presAssocID="{958D79C9-354A-4CAA-A31B-2EA4F317210B}" presName="tx1" presStyleLbl="revTx" presStyleIdx="4" presStyleCnt="6" custScaleY="99686"/>
      <dgm:spPr/>
    </dgm:pt>
    <dgm:pt modelId="{E71C9954-21C1-4073-99D3-D6B031C7AE8A}" type="pres">
      <dgm:prSet presAssocID="{958D79C9-354A-4CAA-A31B-2EA4F317210B}" presName="vert1" presStyleCnt="0"/>
      <dgm:spPr/>
    </dgm:pt>
    <dgm:pt modelId="{F0AFD318-77A7-46E1-AB1D-5E5C13836D34}" type="pres">
      <dgm:prSet presAssocID="{3DDA27EE-8097-42E5-8CE6-6E812CF1C04D}" presName="thickLine" presStyleLbl="alignNode1" presStyleIdx="5" presStyleCnt="6"/>
      <dgm:spPr/>
    </dgm:pt>
    <dgm:pt modelId="{E69A55BD-6D41-4C75-AA95-4E17C926CD74}" type="pres">
      <dgm:prSet presAssocID="{3DDA27EE-8097-42E5-8CE6-6E812CF1C04D}" presName="horz1" presStyleCnt="0"/>
      <dgm:spPr/>
    </dgm:pt>
    <dgm:pt modelId="{8A540C8F-1262-4436-9428-82922CFF0F5D}" type="pres">
      <dgm:prSet presAssocID="{3DDA27EE-8097-42E5-8CE6-6E812CF1C04D}" presName="tx1" presStyleLbl="revTx" presStyleIdx="5" presStyleCnt="6"/>
      <dgm:spPr/>
    </dgm:pt>
    <dgm:pt modelId="{3447344A-F3BE-496B-9D66-FFEAE491721C}" type="pres">
      <dgm:prSet presAssocID="{3DDA27EE-8097-42E5-8CE6-6E812CF1C04D}" presName="vert1" presStyleCnt="0"/>
      <dgm:spPr/>
    </dgm:pt>
  </dgm:ptLst>
  <dgm:cxnLst>
    <dgm:cxn modelId="{35644F14-5F5C-45C0-9C8D-18B5D39077E2}" type="presOf" srcId="{774DF47A-61C8-4B8D-9051-AACC97D76A8E}" destId="{FDADCA99-37A7-45E4-A6F3-7F601C318D23}" srcOrd="0" destOrd="0" presId="urn:microsoft.com/office/officeart/2008/layout/LinedList"/>
    <dgm:cxn modelId="{EE59492E-EA8D-4159-ABF7-26B37CCE62FA}" type="presOf" srcId="{EE4528ED-E0ED-4B8A-8F18-C6BB69F811AF}" destId="{1348520F-8D40-43D6-B0A8-EBFDD93AB176}" srcOrd="0" destOrd="0" presId="urn:microsoft.com/office/officeart/2008/layout/LinedList"/>
    <dgm:cxn modelId="{7CE97A5E-85BE-4D16-A0C9-857DA9C7E461}" srcId="{EE4528ED-E0ED-4B8A-8F18-C6BB69F811AF}" destId="{774DF47A-61C8-4B8D-9051-AACC97D76A8E}" srcOrd="1" destOrd="0" parTransId="{4E89BE1D-1D13-4C78-9286-DE5BEBA1668A}" sibTransId="{549A8700-5238-4929-A9DF-67583C336F5F}"/>
    <dgm:cxn modelId="{07043279-3BE9-45AF-9F1F-526AFBE9D64C}" type="presOf" srcId="{958D79C9-354A-4CAA-A31B-2EA4F317210B}" destId="{3E16F8C4-C8F2-457B-B277-AEC7420C396A}" srcOrd="0" destOrd="0" presId="urn:microsoft.com/office/officeart/2008/layout/LinedList"/>
    <dgm:cxn modelId="{3FB68F88-E15E-4AAF-88FD-53C76F95E72C}" srcId="{EE4528ED-E0ED-4B8A-8F18-C6BB69F811AF}" destId="{3DDA27EE-8097-42E5-8CE6-6E812CF1C04D}" srcOrd="5" destOrd="0" parTransId="{15E484F1-010A-49E7-A69A-88257A65C08E}" sibTransId="{9A8FF01B-5CFD-4F21-A4EB-8676EDEA758F}"/>
    <dgm:cxn modelId="{129AD392-1003-4971-96BA-4ADC306EEBD8}" type="presOf" srcId="{6EA6739D-87DF-460A-9013-FCBF4CF936B2}" destId="{CD6B260E-1054-413D-AECA-AE865D0A0CEC}" srcOrd="0" destOrd="0" presId="urn:microsoft.com/office/officeart/2008/layout/LinedList"/>
    <dgm:cxn modelId="{3BC87CA4-B09D-43A8-A701-56C2BF56A446}" type="presOf" srcId="{CBF80CAC-7E6F-4118-BC5C-CD6FDC65D6BF}" destId="{AE473ED0-1749-4B73-9D35-4A187D63BD82}" srcOrd="0" destOrd="0" presId="urn:microsoft.com/office/officeart/2008/layout/LinedList"/>
    <dgm:cxn modelId="{4851EFAB-F043-4399-AE31-6EDA084A72B7}" srcId="{EE4528ED-E0ED-4B8A-8F18-C6BB69F811AF}" destId="{CBF80CAC-7E6F-4118-BC5C-CD6FDC65D6BF}" srcOrd="3" destOrd="0" parTransId="{D7A5500F-EBE9-4BEC-8126-7B2A251DC1DB}" sibTransId="{4AE976B2-0AC1-48C2-A2D8-ED7E74696432}"/>
    <dgm:cxn modelId="{9E5A45CB-D964-44C5-876B-2DDCD1B193D2}" type="presOf" srcId="{C4363E6F-4D78-4DE9-8761-AE08230EF6B9}" destId="{AFAB2368-A0B8-42CF-843A-87286F66412B}" srcOrd="0" destOrd="0" presId="urn:microsoft.com/office/officeart/2008/layout/LinedList"/>
    <dgm:cxn modelId="{46575ED7-1B52-4586-B0E9-B8F42E9DF5FA}" type="presOf" srcId="{3DDA27EE-8097-42E5-8CE6-6E812CF1C04D}" destId="{8A540C8F-1262-4436-9428-82922CFF0F5D}" srcOrd="0" destOrd="0" presId="urn:microsoft.com/office/officeart/2008/layout/LinedList"/>
    <dgm:cxn modelId="{17BD41E1-10AF-4785-9C22-6FDF3CD990DF}" srcId="{EE4528ED-E0ED-4B8A-8F18-C6BB69F811AF}" destId="{958D79C9-354A-4CAA-A31B-2EA4F317210B}" srcOrd="4" destOrd="0" parTransId="{4E823E4F-D883-4F94-9353-9D749232D6A0}" sibTransId="{FC04873E-D7C0-4C57-B781-257AA3F79D29}"/>
    <dgm:cxn modelId="{4E6ED5E8-2262-4190-8DD3-5D0D5E4D9423}" srcId="{EE4528ED-E0ED-4B8A-8F18-C6BB69F811AF}" destId="{C4363E6F-4D78-4DE9-8761-AE08230EF6B9}" srcOrd="0" destOrd="0" parTransId="{2E0C0BEB-7209-43A8-B99E-2E431F70FB3C}" sibTransId="{3C470281-9456-4F46-A670-A6921F9FC38E}"/>
    <dgm:cxn modelId="{F4CD8CEB-9AFF-4BED-95EB-B008BF6A7DE5}" srcId="{EE4528ED-E0ED-4B8A-8F18-C6BB69F811AF}" destId="{6EA6739D-87DF-460A-9013-FCBF4CF936B2}" srcOrd="2" destOrd="0" parTransId="{67667AD2-D9CD-49CC-9B2A-29126F996534}" sibTransId="{7AD7E599-5F8B-439B-9D5C-F97F84C94C41}"/>
    <dgm:cxn modelId="{0992B7BB-7B42-47BC-AC7D-19B103026C94}" type="presParOf" srcId="{1348520F-8D40-43D6-B0A8-EBFDD93AB176}" destId="{A8B077A3-4D84-4F14-89F4-A120AA971A07}" srcOrd="0" destOrd="0" presId="urn:microsoft.com/office/officeart/2008/layout/LinedList"/>
    <dgm:cxn modelId="{6FBDF2B6-10A5-4FB1-96F7-54CB035F95A5}" type="presParOf" srcId="{1348520F-8D40-43D6-B0A8-EBFDD93AB176}" destId="{4E9A15CA-6DED-4C98-AAD7-40BD62A2366D}" srcOrd="1" destOrd="0" presId="urn:microsoft.com/office/officeart/2008/layout/LinedList"/>
    <dgm:cxn modelId="{8259B44B-3469-4FAB-8E74-FA5D95DB5B13}" type="presParOf" srcId="{4E9A15CA-6DED-4C98-AAD7-40BD62A2366D}" destId="{AFAB2368-A0B8-42CF-843A-87286F66412B}" srcOrd="0" destOrd="0" presId="urn:microsoft.com/office/officeart/2008/layout/LinedList"/>
    <dgm:cxn modelId="{CB706554-57E9-4C74-9576-2A669FBE55BE}" type="presParOf" srcId="{4E9A15CA-6DED-4C98-AAD7-40BD62A2366D}" destId="{9A9D12CF-E2F7-4EDC-BF82-95768E50430C}" srcOrd="1" destOrd="0" presId="urn:microsoft.com/office/officeart/2008/layout/LinedList"/>
    <dgm:cxn modelId="{0D2116E2-1393-44AE-8654-6859D4AF2ACF}" type="presParOf" srcId="{1348520F-8D40-43D6-B0A8-EBFDD93AB176}" destId="{44E2484D-BF48-44A5-891C-44EDFCD2FE90}" srcOrd="2" destOrd="0" presId="urn:microsoft.com/office/officeart/2008/layout/LinedList"/>
    <dgm:cxn modelId="{3A021F3C-5FE0-4B21-8DD5-F2C4BC41E37E}" type="presParOf" srcId="{1348520F-8D40-43D6-B0A8-EBFDD93AB176}" destId="{8A215AAD-BE02-4DF2-BB8C-6E4490A3E3F7}" srcOrd="3" destOrd="0" presId="urn:microsoft.com/office/officeart/2008/layout/LinedList"/>
    <dgm:cxn modelId="{702658B5-3321-4AE6-BA58-056566DBCF03}" type="presParOf" srcId="{8A215AAD-BE02-4DF2-BB8C-6E4490A3E3F7}" destId="{FDADCA99-37A7-45E4-A6F3-7F601C318D23}" srcOrd="0" destOrd="0" presId="urn:microsoft.com/office/officeart/2008/layout/LinedList"/>
    <dgm:cxn modelId="{6F62DD91-1E22-4E26-9481-0442BB2DDAD4}" type="presParOf" srcId="{8A215AAD-BE02-4DF2-BB8C-6E4490A3E3F7}" destId="{E7D107B7-B644-4FD3-95A1-D070447251F2}" srcOrd="1" destOrd="0" presId="urn:microsoft.com/office/officeart/2008/layout/LinedList"/>
    <dgm:cxn modelId="{249EB695-09D8-459D-B49E-E06ABF9A7AD8}" type="presParOf" srcId="{1348520F-8D40-43D6-B0A8-EBFDD93AB176}" destId="{94E695AB-2D05-47FA-AE07-CE4D69EE4C86}" srcOrd="4" destOrd="0" presId="urn:microsoft.com/office/officeart/2008/layout/LinedList"/>
    <dgm:cxn modelId="{77A2D35B-C054-4D0B-AF5E-A6F696C6E889}" type="presParOf" srcId="{1348520F-8D40-43D6-B0A8-EBFDD93AB176}" destId="{07742DF5-6C25-43E7-BE9E-C075A0EF8CBD}" srcOrd="5" destOrd="0" presId="urn:microsoft.com/office/officeart/2008/layout/LinedList"/>
    <dgm:cxn modelId="{D6F20110-19F6-4570-9DB7-E4D0F515BB62}" type="presParOf" srcId="{07742DF5-6C25-43E7-BE9E-C075A0EF8CBD}" destId="{CD6B260E-1054-413D-AECA-AE865D0A0CEC}" srcOrd="0" destOrd="0" presId="urn:microsoft.com/office/officeart/2008/layout/LinedList"/>
    <dgm:cxn modelId="{B185CC93-779F-43A5-A8B1-D5C65C36D428}" type="presParOf" srcId="{07742DF5-6C25-43E7-BE9E-C075A0EF8CBD}" destId="{C509E8D3-548B-4BD3-A516-46BC6A420D3F}" srcOrd="1" destOrd="0" presId="urn:microsoft.com/office/officeart/2008/layout/LinedList"/>
    <dgm:cxn modelId="{73BDF866-E882-49B2-B31B-3699917FA909}" type="presParOf" srcId="{1348520F-8D40-43D6-B0A8-EBFDD93AB176}" destId="{4002028A-8ADF-4911-9FEA-881BD66A1DEA}" srcOrd="6" destOrd="0" presId="urn:microsoft.com/office/officeart/2008/layout/LinedList"/>
    <dgm:cxn modelId="{AE9785F0-DCFF-4421-8B55-80E3DFFAECAE}" type="presParOf" srcId="{1348520F-8D40-43D6-B0A8-EBFDD93AB176}" destId="{C929FB03-BE4D-48FE-A610-F09D5FEDA4B4}" srcOrd="7" destOrd="0" presId="urn:microsoft.com/office/officeart/2008/layout/LinedList"/>
    <dgm:cxn modelId="{224542C1-EF48-452B-BB1C-F9C3F3910646}" type="presParOf" srcId="{C929FB03-BE4D-48FE-A610-F09D5FEDA4B4}" destId="{AE473ED0-1749-4B73-9D35-4A187D63BD82}" srcOrd="0" destOrd="0" presId="urn:microsoft.com/office/officeart/2008/layout/LinedList"/>
    <dgm:cxn modelId="{29F5712D-8C18-4A4C-B534-F19143A88F81}" type="presParOf" srcId="{C929FB03-BE4D-48FE-A610-F09D5FEDA4B4}" destId="{DCA0C26F-6B9E-40E2-9395-665A5252178B}" srcOrd="1" destOrd="0" presId="urn:microsoft.com/office/officeart/2008/layout/LinedList"/>
    <dgm:cxn modelId="{B13CA06D-90F7-410D-BF26-1AF4689BE960}" type="presParOf" srcId="{1348520F-8D40-43D6-B0A8-EBFDD93AB176}" destId="{49C7663A-C3DB-4E3F-BFC9-0CC28C2439C6}" srcOrd="8" destOrd="0" presId="urn:microsoft.com/office/officeart/2008/layout/LinedList"/>
    <dgm:cxn modelId="{B995DAA2-8184-4AB1-A89C-E0711ADDB44C}" type="presParOf" srcId="{1348520F-8D40-43D6-B0A8-EBFDD93AB176}" destId="{C6149C7A-EC9E-4EEC-B8A3-F3E2068B9324}" srcOrd="9" destOrd="0" presId="urn:microsoft.com/office/officeart/2008/layout/LinedList"/>
    <dgm:cxn modelId="{7C47C7D5-813C-476E-A4F2-5C7FC42D4458}" type="presParOf" srcId="{C6149C7A-EC9E-4EEC-B8A3-F3E2068B9324}" destId="{3E16F8C4-C8F2-457B-B277-AEC7420C396A}" srcOrd="0" destOrd="0" presId="urn:microsoft.com/office/officeart/2008/layout/LinedList"/>
    <dgm:cxn modelId="{62B549BE-A3E8-454C-B988-0099AC0491C0}" type="presParOf" srcId="{C6149C7A-EC9E-4EEC-B8A3-F3E2068B9324}" destId="{E71C9954-21C1-4073-99D3-D6B031C7AE8A}" srcOrd="1" destOrd="0" presId="urn:microsoft.com/office/officeart/2008/layout/LinedList"/>
    <dgm:cxn modelId="{DF28EDC1-E754-4733-880D-F09846B073EE}" type="presParOf" srcId="{1348520F-8D40-43D6-B0A8-EBFDD93AB176}" destId="{F0AFD318-77A7-46E1-AB1D-5E5C13836D34}" srcOrd="10" destOrd="0" presId="urn:microsoft.com/office/officeart/2008/layout/LinedList"/>
    <dgm:cxn modelId="{5AA30D1D-80A2-491A-97AE-5BA0DFB18868}" type="presParOf" srcId="{1348520F-8D40-43D6-B0A8-EBFDD93AB176}" destId="{E69A55BD-6D41-4C75-AA95-4E17C926CD74}" srcOrd="11" destOrd="0" presId="urn:microsoft.com/office/officeart/2008/layout/LinedList"/>
    <dgm:cxn modelId="{36138608-0E10-4B2B-A5F0-A3BCC43E5763}" type="presParOf" srcId="{E69A55BD-6D41-4C75-AA95-4E17C926CD74}" destId="{8A540C8F-1262-4436-9428-82922CFF0F5D}" srcOrd="0" destOrd="0" presId="urn:microsoft.com/office/officeart/2008/layout/LinedList"/>
    <dgm:cxn modelId="{01875CDA-E47E-4C2A-A0E9-C53562CCF7B3}" type="presParOf" srcId="{E69A55BD-6D41-4C75-AA95-4E17C926CD74}" destId="{3447344A-F3BE-496B-9D66-FFEAE491721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ED26DA-226D-4DFB-B701-62F0FA26BC16}" type="doc">
      <dgm:prSet loTypeId="urn:microsoft.com/office/officeart/2005/8/layout/vList2" loCatId="list" qsTypeId="urn:microsoft.com/office/officeart/2005/8/quickstyle/3d2" qsCatId="3D" csTypeId="urn:microsoft.com/office/officeart/2005/8/colors/colorful2" csCatId="colorful" phldr="1"/>
      <dgm:spPr/>
      <dgm:t>
        <a:bodyPr/>
        <a:lstStyle/>
        <a:p>
          <a:endParaRPr lang="en-US"/>
        </a:p>
      </dgm:t>
    </dgm:pt>
    <dgm:pt modelId="{39F0E68D-3468-43FD-80CB-CC9B479AA1E8}">
      <dgm:prSet/>
      <dgm:spPr/>
      <dgm:t>
        <a:bodyPr/>
        <a:lstStyle/>
        <a:p>
          <a:r>
            <a:rPr lang="en-IN" dirty="0"/>
            <a:t>Clinical diagnostics</a:t>
          </a:r>
          <a:endParaRPr lang="en-US" dirty="0"/>
        </a:p>
      </dgm:t>
    </dgm:pt>
    <dgm:pt modelId="{345448AA-A968-4183-85D5-03802A5ACCD2}" type="parTrans" cxnId="{7355401F-A1B5-4B87-B356-E2938CAD3AD6}">
      <dgm:prSet/>
      <dgm:spPr/>
      <dgm:t>
        <a:bodyPr/>
        <a:lstStyle/>
        <a:p>
          <a:endParaRPr lang="en-US"/>
        </a:p>
      </dgm:t>
    </dgm:pt>
    <dgm:pt modelId="{CE044DC4-EA46-4748-8DE1-C0285D81F694}" type="sibTrans" cxnId="{7355401F-A1B5-4B87-B356-E2938CAD3AD6}">
      <dgm:prSet/>
      <dgm:spPr/>
      <dgm:t>
        <a:bodyPr/>
        <a:lstStyle/>
        <a:p>
          <a:endParaRPr lang="en-US"/>
        </a:p>
      </dgm:t>
    </dgm:pt>
    <dgm:pt modelId="{256CB8CA-2713-44CE-B415-0F6ED2322C64}">
      <dgm:prSet/>
      <dgm:spPr/>
      <dgm:t>
        <a:bodyPr/>
        <a:lstStyle/>
        <a:p>
          <a:r>
            <a:rPr lang="en-IN" dirty="0"/>
            <a:t>Food analysis</a:t>
          </a:r>
          <a:endParaRPr lang="en-US" dirty="0"/>
        </a:p>
      </dgm:t>
    </dgm:pt>
    <dgm:pt modelId="{39CB6F29-8BBD-43D8-B396-2617181BA0A4}" type="parTrans" cxnId="{54A67873-A870-46F8-AD38-86D510BB274C}">
      <dgm:prSet/>
      <dgm:spPr/>
      <dgm:t>
        <a:bodyPr/>
        <a:lstStyle/>
        <a:p>
          <a:endParaRPr lang="en-US"/>
        </a:p>
      </dgm:t>
    </dgm:pt>
    <dgm:pt modelId="{2E6172DC-0CBA-4C77-B64E-2ABE23A2E952}" type="sibTrans" cxnId="{54A67873-A870-46F8-AD38-86D510BB274C}">
      <dgm:prSet/>
      <dgm:spPr/>
      <dgm:t>
        <a:bodyPr/>
        <a:lstStyle/>
        <a:p>
          <a:endParaRPr lang="en-US"/>
        </a:p>
      </dgm:t>
    </dgm:pt>
    <dgm:pt modelId="{63F72ED0-C4BF-472F-B9CC-924D63627489}">
      <dgm:prSet/>
      <dgm:spPr/>
      <dgm:t>
        <a:bodyPr/>
        <a:lstStyle/>
        <a:p>
          <a:r>
            <a:rPr lang="en-IN" dirty="0"/>
            <a:t>Detecting pathogenic bacteria</a:t>
          </a:r>
          <a:endParaRPr lang="en-US" dirty="0"/>
        </a:p>
      </dgm:t>
    </dgm:pt>
    <dgm:pt modelId="{B2993667-1E10-4ACF-A699-721108D123CB}" type="parTrans" cxnId="{2B1E1646-F94B-4C74-802C-0372B6AB6DC4}">
      <dgm:prSet/>
      <dgm:spPr/>
      <dgm:t>
        <a:bodyPr/>
        <a:lstStyle/>
        <a:p>
          <a:endParaRPr lang="en-US"/>
        </a:p>
      </dgm:t>
    </dgm:pt>
    <dgm:pt modelId="{A19D1EF7-07A1-41A6-B7D7-0014C6E0EFE3}" type="sibTrans" cxnId="{2B1E1646-F94B-4C74-802C-0372B6AB6DC4}">
      <dgm:prSet/>
      <dgm:spPr/>
      <dgm:t>
        <a:bodyPr/>
        <a:lstStyle/>
        <a:p>
          <a:endParaRPr lang="en-US"/>
        </a:p>
      </dgm:t>
    </dgm:pt>
    <dgm:pt modelId="{86BA01A8-47F2-428E-B910-62CC8F4A20EB}">
      <dgm:prSet/>
      <dgm:spPr/>
      <dgm:t>
        <a:bodyPr/>
        <a:lstStyle/>
        <a:p>
          <a:r>
            <a:rPr lang="en-IN" dirty="0"/>
            <a:t>Detection of explosives</a:t>
          </a:r>
          <a:endParaRPr lang="en-US" dirty="0"/>
        </a:p>
      </dgm:t>
    </dgm:pt>
    <dgm:pt modelId="{A3691FC2-110F-424C-A896-4881C0702AC7}" type="parTrans" cxnId="{B2D976C8-95CD-48BF-99F1-9E491BBBD302}">
      <dgm:prSet/>
      <dgm:spPr/>
      <dgm:t>
        <a:bodyPr/>
        <a:lstStyle/>
        <a:p>
          <a:endParaRPr lang="en-US"/>
        </a:p>
      </dgm:t>
    </dgm:pt>
    <dgm:pt modelId="{8ABACECD-51DC-43E0-9425-F5D244121C25}" type="sibTrans" cxnId="{B2D976C8-95CD-48BF-99F1-9E491BBBD302}">
      <dgm:prSet/>
      <dgm:spPr/>
      <dgm:t>
        <a:bodyPr/>
        <a:lstStyle/>
        <a:p>
          <a:endParaRPr lang="en-US"/>
        </a:p>
      </dgm:t>
    </dgm:pt>
    <dgm:pt modelId="{B2378BDA-63FB-4982-8D51-329906EEBDB3}">
      <dgm:prSet/>
      <dgm:spPr/>
      <dgm:t>
        <a:bodyPr/>
        <a:lstStyle/>
        <a:p>
          <a:r>
            <a:rPr lang="en-IN" b="0" i="0" dirty="0"/>
            <a:t>Materials characterization study</a:t>
          </a:r>
          <a:endParaRPr lang="en-IN" dirty="0"/>
        </a:p>
      </dgm:t>
    </dgm:pt>
    <dgm:pt modelId="{BE9A0E58-260E-4F43-9FBF-D11D320CA7D8}" type="parTrans" cxnId="{DA0FBF3F-0956-4DF3-A214-394AB3AA770D}">
      <dgm:prSet/>
      <dgm:spPr/>
      <dgm:t>
        <a:bodyPr/>
        <a:lstStyle/>
        <a:p>
          <a:endParaRPr lang="en-IN"/>
        </a:p>
      </dgm:t>
    </dgm:pt>
    <dgm:pt modelId="{60C7B9B2-4CE6-4C3E-9A62-ED9A28B98CD3}" type="sibTrans" cxnId="{DA0FBF3F-0956-4DF3-A214-394AB3AA770D}">
      <dgm:prSet/>
      <dgm:spPr/>
      <dgm:t>
        <a:bodyPr/>
        <a:lstStyle/>
        <a:p>
          <a:endParaRPr lang="en-IN"/>
        </a:p>
      </dgm:t>
    </dgm:pt>
    <dgm:pt modelId="{B2F5C28D-5F61-4382-8236-6DAD9B5B7BDA}" type="pres">
      <dgm:prSet presAssocID="{00ED26DA-226D-4DFB-B701-62F0FA26BC16}" presName="linear" presStyleCnt="0">
        <dgm:presLayoutVars>
          <dgm:animLvl val="lvl"/>
          <dgm:resizeHandles val="exact"/>
        </dgm:presLayoutVars>
      </dgm:prSet>
      <dgm:spPr/>
    </dgm:pt>
    <dgm:pt modelId="{E3B8FD46-23A1-4F1E-8723-C97E2FD8833C}" type="pres">
      <dgm:prSet presAssocID="{39F0E68D-3468-43FD-80CB-CC9B479AA1E8}" presName="parentText" presStyleLbl="node1" presStyleIdx="0" presStyleCnt="5">
        <dgm:presLayoutVars>
          <dgm:chMax val="0"/>
          <dgm:bulletEnabled val="1"/>
        </dgm:presLayoutVars>
      </dgm:prSet>
      <dgm:spPr/>
    </dgm:pt>
    <dgm:pt modelId="{DD0E2B19-10E2-49D7-8DF5-9A3FAE121E90}" type="pres">
      <dgm:prSet presAssocID="{CE044DC4-EA46-4748-8DE1-C0285D81F694}" presName="spacer" presStyleCnt="0"/>
      <dgm:spPr/>
    </dgm:pt>
    <dgm:pt modelId="{EFC02B93-7974-4C5C-9D07-D6A5F82F5BA3}" type="pres">
      <dgm:prSet presAssocID="{256CB8CA-2713-44CE-B415-0F6ED2322C64}" presName="parentText" presStyleLbl="node1" presStyleIdx="1" presStyleCnt="5">
        <dgm:presLayoutVars>
          <dgm:chMax val="0"/>
          <dgm:bulletEnabled val="1"/>
        </dgm:presLayoutVars>
      </dgm:prSet>
      <dgm:spPr/>
    </dgm:pt>
    <dgm:pt modelId="{E0615724-EDC7-4392-957C-1B7B7D3231A4}" type="pres">
      <dgm:prSet presAssocID="{2E6172DC-0CBA-4C77-B64E-2ABE23A2E952}" presName="spacer" presStyleCnt="0"/>
      <dgm:spPr/>
    </dgm:pt>
    <dgm:pt modelId="{438D3AD3-4B9C-42B1-AA4D-3D3933A3C775}" type="pres">
      <dgm:prSet presAssocID="{63F72ED0-C4BF-472F-B9CC-924D63627489}" presName="parentText" presStyleLbl="node1" presStyleIdx="2" presStyleCnt="5">
        <dgm:presLayoutVars>
          <dgm:chMax val="0"/>
          <dgm:bulletEnabled val="1"/>
        </dgm:presLayoutVars>
      </dgm:prSet>
      <dgm:spPr/>
    </dgm:pt>
    <dgm:pt modelId="{5BDF46D2-31F1-4887-A08E-B26D1A591C1F}" type="pres">
      <dgm:prSet presAssocID="{A19D1EF7-07A1-41A6-B7D7-0014C6E0EFE3}" presName="spacer" presStyleCnt="0"/>
      <dgm:spPr/>
    </dgm:pt>
    <dgm:pt modelId="{8FC57EB4-793B-48A0-9834-5DF00E1E093D}" type="pres">
      <dgm:prSet presAssocID="{86BA01A8-47F2-428E-B910-62CC8F4A20EB}" presName="parentText" presStyleLbl="node1" presStyleIdx="3" presStyleCnt="5">
        <dgm:presLayoutVars>
          <dgm:chMax val="0"/>
          <dgm:bulletEnabled val="1"/>
        </dgm:presLayoutVars>
      </dgm:prSet>
      <dgm:spPr/>
    </dgm:pt>
    <dgm:pt modelId="{58F266EA-9DAE-4C4E-B09B-81B9A99790EF}" type="pres">
      <dgm:prSet presAssocID="{8ABACECD-51DC-43E0-9425-F5D244121C25}" presName="spacer" presStyleCnt="0"/>
      <dgm:spPr/>
    </dgm:pt>
    <dgm:pt modelId="{E05DDED2-5840-4FA4-B745-AC3EF0BA08AE}" type="pres">
      <dgm:prSet presAssocID="{B2378BDA-63FB-4982-8D51-329906EEBDB3}" presName="parentText" presStyleLbl="node1" presStyleIdx="4" presStyleCnt="5">
        <dgm:presLayoutVars>
          <dgm:chMax val="0"/>
          <dgm:bulletEnabled val="1"/>
        </dgm:presLayoutVars>
      </dgm:prSet>
      <dgm:spPr/>
    </dgm:pt>
  </dgm:ptLst>
  <dgm:cxnLst>
    <dgm:cxn modelId="{3E6FE917-8AA1-4832-8B7E-45E2B8659D04}" type="presOf" srcId="{63F72ED0-C4BF-472F-B9CC-924D63627489}" destId="{438D3AD3-4B9C-42B1-AA4D-3D3933A3C775}" srcOrd="0" destOrd="0" presId="urn:microsoft.com/office/officeart/2005/8/layout/vList2"/>
    <dgm:cxn modelId="{7355401F-A1B5-4B87-B356-E2938CAD3AD6}" srcId="{00ED26DA-226D-4DFB-B701-62F0FA26BC16}" destId="{39F0E68D-3468-43FD-80CB-CC9B479AA1E8}" srcOrd="0" destOrd="0" parTransId="{345448AA-A968-4183-85D5-03802A5ACCD2}" sibTransId="{CE044DC4-EA46-4748-8DE1-C0285D81F694}"/>
    <dgm:cxn modelId="{DA0FBF3F-0956-4DF3-A214-394AB3AA770D}" srcId="{00ED26DA-226D-4DFB-B701-62F0FA26BC16}" destId="{B2378BDA-63FB-4982-8D51-329906EEBDB3}" srcOrd="4" destOrd="0" parTransId="{BE9A0E58-260E-4F43-9FBF-D11D320CA7D8}" sibTransId="{60C7B9B2-4CE6-4C3E-9A62-ED9A28B98CD3}"/>
    <dgm:cxn modelId="{2B1E1646-F94B-4C74-802C-0372B6AB6DC4}" srcId="{00ED26DA-226D-4DFB-B701-62F0FA26BC16}" destId="{63F72ED0-C4BF-472F-B9CC-924D63627489}" srcOrd="2" destOrd="0" parTransId="{B2993667-1E10-4ACF-A699-721108D123CB}" sibTransId="{A19D1EF7-07A1-41A6-B7D7-0014C6E0EFE3}"/>
    <dgm:cxn modelId="{85909946-EF42-43B0-9C6E-A01C8C4EBBAA}" type="presOf" srcId="{B2378BDA-63FB-4982-8D51-329906EEBDB3}" destId="{E05DDED2-5840-4FA4-B745-AC3EF0BA08AE}" srcOrd="0" destOrd="0" presId="urn:microsoft.com/office/officeart/2005/8/layout/vList2"/>
    <dgm:cxn modelId="{EBAB964B-0DD7-48D2-9A2B-247761757B1D}" type="presOf" srcId="{00ED26DA-226D-4DFB-B701-62F0FA26BC16}" destId="{B2F5C28D-5F61-4382-8236-6DAD9B5B7BDA}" srcOrd="0" destOrd="0" presId="urn:microsoft.com/office/officeart/2005/8/layout/vList2"/>
    <dgm:cxn modelId="{54A67873-A870-46F8-AD38-86D510BB274C}" srcId="{00ED26DA-226D-4DFB-B701-62F0FA26BC16}" destId="{256CB8CA-2713-44CE-B415-0F6ED2322C64}" srcOrd="1" destOrd="0" parTransId="{39CB6F29-8BBD-43D8-B396-2617181BA0A4}" sibTransId="{2E6172DC-0CBA-4C77-B64E-2ABE23A2E952}"/>
    <dgm:cxn modelId="{0C6BBE9A-080B-40D6-BD64-F8C3DD36C876}" type="presOf" srcId="{256CB8CA-2713-44CE-B415-0F6ED2322C64}" destId="{EFC02B93-7974-4C5C-9D07-D6A5F82F5BA3}" srcOrd="0" destOrd="0" presId="urn:microsoft.com/office/officeart/2005/8/layout/vList2"/>
    <dgm:cxn modelId="{1329C6C2-D6F8-419B-960B-4116F9A242DA}" type="presOf" srcId="{39F0E68D-3468-43FD-80CB-CC9B479AA1E8}" destId="{E3B8FD46-23A1-4F1E-8723-C97E2FD8833C}" srcOrd="0" destOrd="0" presId="urn:microsoft.com/office/officeart/2005/8/layout/vList2"/>
    <dgm:cxn modelId="{B2D976C8-95CD-48BF-99F1-9E491BBBD302}" srcId="{00ED26DA-226D-4DFB-B701-62F0FA26BC16}" destId="{86BA01A8-47F2-428E-B910-62CC8F4A20EB}" srcOrd="3" destOrd="0" parTransId="{A3691FC2-110F-424C-A896-4881C0702AC7}" sibTransId="{8ABACECD-51DC-43E0-9425-F5D244121C25}"/>
    <dgm:cxn modelId="{C7C94CF0-44D8-4951-8278-C402BA56C8E0}" type="presOf" srcId="{86BA01A8-47F2-428E-B910-62CC8F4A20EB}" destId="{8FC57EB4-793B-48A0-9834-5DF00E1E093D}" srcOrd="0" destOrd="0" presId="urn:microsoft.com/office/officeart/2005/8/layout/vList2"/>
    <dgm:cxn modelId="{9237DD78-EBB6-403A-8738-7795D4C060D1}" type="presParOf" srcId="{B2F5C28D-5F61-4382-8236-6DAD9B5B7BDA}" destId="{E3B8FD46-23A1-4F1E-8723-C97E2FD8833C}" srcOrd="0" destOrd="0" presId="urn:microsoft.com/office/officeart/2005/8/layout/vList2"/>
    <dgm:cxn modelId="{DC2A77DD-B618-47C6-859F-3A00313E7A7F}" type="presParOf" srcId="{B2F5C28D-5F61-4382-8236-6DAD9B5B7BDA}" destId="{DD0E2B19-10E2-49D7-8DF5-9A3FAE121E90}" srcOrd="1" destOrd="0" presId="urn:microsoft.com/office/officeart/2005/8/layout/vList2"/>
    <dgm:cxn modelId="{72B20FE5-81E7-4BB0-8876-05F5703E7723}" type="presParOf" srcId="{B2F5C28D-5F61-4382-8236-6DAD9B5B7BDA}" destId="{EFC02B93-7974-4C5C-9D07-D6A5F82F5BA3}" srcOrd="2" destOrd="0" presId="urn:microsoft.com/office/officeart/2005/8/layout/vList2"/>
    <dgm:cxn modelId="{25E759FA-013E-4DDA-BD03-AECCA27347D6}" type="presParOf" srcId="{B2F5C28D-5F61-4382-8236-6DAD9B5B7BDA}" destId="{E0615724-EDC7-4392-957C-1B7B7D3231A4}" srcOrd="3" destOrd="0" presId="urn:microsoft.com/office/officeart/2005/8/layout/vList2"/>
    <dgm:cxn modelId="{8A5B074A-9DA3-4B0C-BF16-1410DA6405EE}" type="presParOf" srcId="{B2F5C28D-5F61-4382-8236-6DAD9B5B7BDA}" destId="{438D3AD3-4B9C-42B1-AA4D-3D3933A3C775}" srcOrd="4" destOrd="0" presId="urn:microsoft.com/office/officeart/2005/8/layout/vList2"/>
    <dgm:cxn modelId="{033A5DEB-D01A-48A7-B70E-640CDBC28BE5}" type="presParOf" srcId="{B2F5C28D-5F61-4382-8236-6DAD9B5B7BDA}" destId="{5BDF46D2-31F1-4887-A08E-B26D1A591C1F}" srcOrd="5" destOrd="0" presId="urn:microsoft.com/office/officeart/2005/8/layout/vList2"/>
    <dgm:cxn modelId="{D172E778-BCE0-4C0F-9434-BA9C4207BCC6}" type="presParOf" srcId="{B2F5C28D-5F61-4382-8236-6DAD9B5B7BDA}" destId="{8FC57EB4-793B-48A0-9834-5DF00E1E093D}" srcOrd="6" destOrd="0" presId="urn:microsoft.com/office/officeart/2005/8/layout/vList2"/>
    <dgm:cxn modelId="{15E76224-ACC5-4954-9DD8-A0AE79AA154C}" type="presParOf" srcId="{B2F5C28D-5F61-4382-8236-6DAD9B5B7BDA}" destId="{58F266EA-9DAE-4C4E-B09B-81B9A99790EF}" srcOrd="7" destOrd="0" presId="urn:microsoft.com/office/officeart/2005/8/layout/vList2"/>
    <dgm:cxn modelId="{6AF068C5-CABE-4D0A-905C-9D6DBEACF8F6}" type="presParOf" srcId="{B2F5C28D-5F61-4382-8236-6DAD9B5B7BDA}" destId="{E05DDED2-5840-4FA4-B745-AC3EF0BA08A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188A296-FA29-488F-BBA0-670B9B73FD86}" type="doc">
      <dgm:prSet loTypeId="urn:microsoft.com/office/officeart/2005/8/layout/orgChart1" loCatId="hierarchy" qsTypeId="urn:microsoft.com/office/officeart/2005/8/quickstyle/simple1" qsCatId="simple" csTypeId="urn:microsoft.com/office/officeart/2005/8/colors/accent2_4" csCatId="accent2" phldr="1"/>
      <dgm:spPr/>
      <dgm:t>
        <a:bodyPr/>
        <a:lstStyle/>
        <a:p>
          <a:endParaRPr lang="en-IN"/>
        </a:p>
      </dgm:t>
    </dgm:pt>
    <dgm:pt modelId="{D2B1D301-5AEA-48F8-B924-772ACA770B2F}">
      <dgm:prSet phldrT="[Text]"/>
      <dgm:spPr/>
      <dgm:t>
        <a:bodyPr/>
        <a:lstStyle/>
        <a:p>
          <a:r>
            <a:rPr lang="en-IN" dirty="0"/>
            <a:t>Governing Equations</a:t>
          </a:r>
        </a:p>
      </dgm:t>
    </dgm:pt>
    <dgm:pt modelId="{9E5B383E-CA47-4882-8918-EAEE22451FD7}" type="parTrans" cxnId="{899A9D76-3F01-4FDE-A973-9D0A28FA1923}">
      <dgm:prSet/>
      <dgm:spPr/>
      <dgm:t>
        <a:bodyPr/>
        <a:lstStyle/>
        <a:p>
          <a:endParaRPr lang="en-IN"/>
        </a:p>
      </dgm:t>
    </dgm:pt>
    <dgm:pt modelId="{C7EB2D26-F173-4A02-9CCE-7732CA91C1DE}" type="sibTrans" cxnId="{899A9D76-3F01-4FDE-A973-9D0A28FA1923}">
      <dgm:prSet/>
      <dgm:spPr/>
      <dgm:t>
        <a:bodyPr/>
        <a:lstStyle/>
        <a:p>
          <a:endParaRPr lang="en-IN"/>
        </a:p>
      </dgm:t>
    </dgm:pt>
    <dgm:pt modelId="{31A2A9C3-1F9B-4382-8796-23013B5A8D72}">
      <dgm:prSet phldrT="[Text]"/>
      <dgm:spPr/>
      <dgm:t>
        <a:bodyPr/>
        <a:lstStyle/>
        <a:p>
          <a:r>
            <a:rPr lang="en-IN" dirty="0"/>
            <a:t>Advection Diffusion Equation</a:t>
          </a:r>
        </a:p>
      </dgm:t>
    </dgm:pt>
    <dgm:pt modelId="{6F2ED18C-1801-4069-8C4D-9E2DDEA79DCA}" type="parTrans" cxnId="{71B8FAE1-C025-415E-A65A-6F1BC7D849BC}">
      <dgm:prSet/>
      <dgm:spPr/>
      <dgm:t>
        <a:bodyPr/>
        <a:lstStyle/>
        <a:p>
          <a:endParaRPr lang="en-IN"/>
        </a:p>
      </dgm:t>
    </dgm:pt>
    <dgm:pt modelId="{918FB531-0A83-4824-83BC-80AEF6422793}" type="sibTrans" cxnId="{71B8FAE1-C025-415E-A65A-6F1BC7D849BC}">
      <dgm:prSet/>
      <dgm:spPr/>
      <dgm:t>
        <a:bodyPr/>
        <a:lstStyle/>
        <a:p>
          <a:endParaRPr lang="en-IN"/>
        </a:p>
      </dgm:t>
    </dgm:pt>
    <dgm:pt modelId="{F01B0D88-A951-43AD-863E-E4EF8E97C904}">
      <dgm:prSet phldrT="[Text]"/>
      <dgm:spPr/>
      <dgm:t>
        <a:bodyPr/>
        <a:lstStyle/>
        <a:p>
          <a:r>
            <a:rPr lang="en-IN" dirty="0"/>
            <a:t>3D Navier-Stokes Equation</a:t>
          </a:r>
        </a:p>
      </dgm:t>
    </dgm:pt>
    <dgm:pt modelId="{E96260B4-0FC2-4C4B-9295-955922524860}" type="parTrans" cxnId="{22067AFA-1797-4253-9464-D78BC27F4283}">
      <dgm:prSet/>
      <dgm:spPr/>
      <dgm:t>
        <a:bodyPr/>
        <a:lstStyle/>
        <a:p>
          <a:endParaRPr lang="en-IN"/>
        </a:p>
      </dgm:t>
    </dgm:pt>
    <dgm:pt modelId="{A5D3FD35-7B8C-41EE-AFA9-B00E83800C0B}" type="sibTrans" cxnId="{22067AFA-1797-4253-9464-D78BC27F4283}">
      <dgm:prSet/>
      <dgm:spPr/>
      <dgm:t>
        <a:bodyPr/>
        <a:lstStyle/>
        <a:p>
          <a:endParaRPr lang="en-IN"/>
        </a:p>
      </dgm:t>
    </dgm:pt>
    <dgm:pt modelId="{7CF3DEDE-A149-4688-A9E4-A13D1C6C394C}" type="pres">
      <dgm:prSet presAssocID="{6188A296-FA29-488F-BBA0-670B9B73FD86}" presName="hierChild1" presStyleCnt="0">
        <dgm:presLayoutVars>
          <dgm:orgChart val="1"/>
          <dgm:chPref val="1"/>
          <dgm:dir/>
          <dgm:animOne val="branch"/>
          <dgm:animLvl val="lvl"/>
          <dgm:resizeHandles/>
        </dgm:presLayoutVars>
      </dgm:prSet>
      <dgm:spPr/>
    </dgm:pt>
    <dgm:pt modelId="{06F23E05-C950-4044-BD49-B56D9DC6C30D}" type="pres">
      <dgm:prSet presAssocID="{D2B1D301-5AEA-48F8-B924-772ACA770B2F}" presName="hierRoot1" presStyleCnt="0">
        <dgm:presLayoutVars>
          <dgm:hierBranch val="init"/>
        </dgm:presLayoutVars>
      </dgm:prSet>
      <dgm:spPr/>
    </dgm:pt>
    <dgm:pt modelId="{15978106-0E22-470C-9FBD-F1E8899CA1A5}" type="pres">
      <dgm:prSet presAssocID="{D2B1D301-5AEA-48F8-B924-772ACA770B2F}" presName="rootComposite1" presStyleCnt="0"/>
      <dgm:spPr/>
    </dgm:pt>
    <dgm:pt modelId="{E7816C44-F3AB-454D-88A3-4ECC395CF511}" type="pres">
      <dgm:prSet presAssocID="{D2B1D301-5AEA-48F8-B924-772ACA770B2F}" presName="rootText1" presStyleLbl="node0" presStyleIdx="0" presStyleCnt="1">
        <dgm:presLayoutVars>
          <dgm:chPref val="3"/>
        </dgm:presLayoutVars>
      </dgm:prSet>
      <dgm:spPr/>
    </dgm:pt>
    <dgm:pt modelId="{B63F43E4-1F5E-4BC2-B633-5F4D69F727A8}" type="pres">
      <dgm:prSet presAssocID="{D2B1D301-5AEA-48F8-B924-772ACA770B2F}" presName="rootConnector1" presStyleLbl="node1" presStyleIdx="0" presStyleCnt="0"/>
      <dgm:spPr/>
    </dgm:pt>
    <dgm:pt modelId="{B1959243-944E-419D-A7C5-B256A13AB11E}" type="pres">
      <dgm:prSet presAssocID="{D2B1D301-5AEA-48F8-B924-772ACA770B2F}" presName="hierChild2" presStyleCnt="0"/>
      <dgm:spPr/>
    </dgm:pt>
    <dgm:pt modelId="{BC1C9D9A-5EB3-4C85-89F5-346C7CAEA8F9}" type="pres">
      <dgm:prSet presAssocID="{6F2ED18C-1801-4069-8C4D-9E2DDEA79DCA}" presName="Name37" presStyleLbl="parChTrans1D2" presStyleIdx="0" presStyleCnt="2"/>
      <dgm:spPr/>
    </dgm:pt>
    <dgm:pt modelId="{CF822DF1-72A2-465F-A90C-A50B512D1358}" type="pres">
      <dgm:prSet presAssocID="{31A2A9C3-1F9B-4382-8796-23013B5A8D72}" presName="hierRoot2" presStyleCnt="0">
        <dgm:presLayoutVars>
          <dgm:hierBranch val="init"/>
        </dgm:presLayoutVars>
      </dgm:prSet>
      <dgm:spPr/>
    </dgm:pt>
    <dgm:pt modelId="{A9A49B35-669B-42DB-A885-30F571E183A1}" type="pres">
      <dgm:prSet presAssocID="{31A2A9C3-1F9B-4382-8796-23013B5A8D72}" presName="rootComposite" presStyleCnt="0"/>
      <dgm:spPr/>
    </dgm:pt>
    <dgm:pt modelId="{EEDFA48C-D3D5-4953-B277-E091294A6F1B}" type="pres">
      <dgm:prSet presAssocID="{31A2A9C3-1F9B-4382-8796-23013B5A8D72}" presName="rootText" presStyleLbl="node2" presStyleIdx="0" presStyleCnt="2">
        <dgm:presLayoutVars>
          <dgm:chPref val="3"/>
        </dgm:presLayoutVars>
      </dgm:prSet>
      <dgm:spPr/>
    </dgm:pt>
    <dgm:pt modelId="{61E865F8-975B-4AE9-8DA8-53455BB59C1B}" type="pres">
      <dgm:prSet presAssocID="{31A2A9C3-1F9B-4382-8796-23013B5A8D72}" presName="rootConnector" presStyleLbl="node2" presStyleIdx="0" presStyleCnt="2"/>
      <dgm:spPr/>
    </dgm:pt>
    <dgm:pt modelId="{C2F2C77E-5990-4257-AE75-3EF5A2F38924}" type="pres">
      <dgm:prSet presAssocID="{31A2A9C3-1F9B-4382-8796-23013B5A8D72}" presName="hierChild4" presStyleCnt="0"/>
      <dgm:spPr/>
    </dgm:pt>
    <dgm:pt modelId="{A074DA24-BE42-4AFB-B7FC-E6B10B1DC338}" type="pres">
      <dgm:prSet presAssocID="{31A2A9C3-1F9B-4382-8796-23013B5A8D72}" presName="hierChild5" presStyleCnt="0"/>
      <dgm:spPr/>
    </dgm:pt>
    <dgm:pt modelId="{709402F7-D48C-4519-86A5-1EEBEAC2E421}" type="pres">
      <dgm:prSet presAssocID="{E96260B4-0FC2-4C4B-9295-955922524860}" presName="Name37" presStyleLbl="parChTrans1D2" presStyleIdx="1" presStyleCnt="2"/>
      <dgm:spPr/>
    </dgm:pt>
    <dgm:pt modelId="{C9C04D8C-9659-4D95-A9F2-CE896E596A9D}" type="pres">
      <dgm:prSet presAssocID="{F01B0D88-A951-43AD-863E-E4EF8E97C904}" presName="hierRoot2" presStyleCnt="0">
        <dgm:presLayoutVars>
          <dgm:hierBranch val="init"/>
        </dgm:presLayoutVars>
      </dgm:prSet>
      <dgm:spPr/>
    </dgm:pt>
    <dgm:pt modelId="{47F3FD1F-B2C9-4E64-B184-4B65B35B0D2E}" type="pres">
      <dgm:prSet presAssocID="{F01B0D88-A951-43AD-863E-E4EF8E97C904}" presName="rootComposite" presStyleCnt="0"/>
      <dgm:spPr/>
    </dgm:pt>
    <dgm:pt modelId="{C1E09C23-A12C-4E57-ADEF-6015C3718E31}" type="pres">
      <dgm:prSet presAssocID="{F01B0D88-A951-43AD-863E-E4EF8E97C904}" presName="rootText" presStyleLbl="node2" presStyleIdx="1" presStyleCnt="2">
        <dgm:presLayoutVars>
          <dgm:chPref val="3"/>
        </dgm:presLayoutVars>
      </dgm:prSet>
      <dgm:spPr/>
    </dgm:pt>
    <dgm:pt modelId="{962E0550-D901-4FAE-A2B6-EB57155A52CC}" type="pres">
      <dgm:prSet presAssocID="{F01B0D88-A951-43AD-863E-E4EF8E97C904}" presName="rootConnector" presStyleLbl="node2" presStyleIdx="1" presStyleCnt="2"/>
      <dgm:spPr/>
    </dgm:pt>
    <dgm:pt modelId="{E930F5A9-F2DA-4756-A8D1-4ACF8C1B5552}" type="pres">
      <dgm:prSet presAssocID="{F01B0D88-A951-43AD-863E-E4EF8E97C904}" presName="hierChild4" presStyleCnt="0"/>
      <dgm:spPr/>
    </dgm:pt>
    <dgm:pt modelId="{61D0D38B-6CA3-4BD8-835F-65FD4D14B089}" type="pres">
      <dgm:prSet presAssocID="{F01B0D88-A951-43AD-863E-E4EF8E97C904}" presName="hierChild5" presStyleCnt="0"/>
      <dgm:spPr/>
    </dgm:pt>
    <dgm:pt modelId="{52B4970E-865A-4AB1-9A96-9125A2E1FE87}" type="pres">
      <dgm:prSet presAssocID="{D2B1D301-5AEA-48F8-B924-772ACA770B2F}" presName="hierChild3" presStyleCnt="0"/>
      <dgm:spPr/>
    </dgm:pt>
  </dgm:ptLst>
  <dgm:cxnLst>
    <dgm:cxn modelId="{60EEB801-4DF7-4D21-A303-B7FF2E6D187C}" type="presOf" srcId="{31A2A9C3-1F9B-4382-8796-23013B5A8D72}" destId="{EEDFA48C-D3D5-4953-B277-E091294A6F1B}" srcOrd="0" destOrd="0" presId="urn:microsoft.com/office/officeart/2005/8/layout/orgChart1"/>
    <dgm:cxn modelId="{1B8A0D15-F880-4016-8908-90759F799F61}" type="presOf" srcId="{F01B0D88-A951-43AD-863E-E4EF8E97C904}" destId="{962E0550-D901-4FAE-A2B6-EB57155A52CC}" srcOrd="1" destOrd="0" presId="urn:microsoft.com/office/officeart/2005/8/layout/orgChart1"/>
    <dgm:cxn modelId="{AD7E2C22-01F8-4BB0-B7ED-AF4C9D211760}" type="presOf" srcId="{D2B1D301-5AEA-48F8-B924-772ACA770B2F}" destId="{E7816C44-F3AB-454D-88A3-4ECC395CF511}" srcOrd="0" destOrd="0" presId="urn:microsoft.com/office/officeart/2005/8/layout/orgChart1"/>
    <dgm:cxn modelId="{FEFD5541-3549-4523-B434-B5F037864F2E}" type="presOf" srcId="{31A2A9C3-1F9B-4382-8796-23013B5A8D72}" destId="{61E865F8-975B-4AE9-8DA8-53455BB59C1B}" srcOrd="1" destOrd="0" presId="urn:microsoft.com/office/officeart/2005/8/layout/orgChart1"/>
    <dgm:cxn modelId="{4EE34146-0EDC-4E08-A504-09C928FF1BA2}" type="presOf" srcId="{D2B1D301-5AEA-48F8-B924-772ACA770B2F}" destId="{B63F43E4-1F5E-4BC2-B633-5F4D69F727A8}" srcOrd="1" destOrd="0" presId="urn:microsoft.com/office/officeart/2005/8/layout/orgChart1"/>
    <dgm:cxn modelId="{899A9D76-3F01-4FDE-A973-9D0A28FA1923}" srcId="{6188A296-FA29-488F-BBA0-670B9B73FD86}" destId="{D2B1D301-5AEA-48F8-B924-772ACA770B2F}" srcOrd="0" destOrd="0" parTransId="{9E5B383E-CA47-4882-8918-EAEE22451FD7}" sibTransId="{C7EB2D26-F173-4A02-9CCE-7732CA91C1DE}"/>
    <dgm:cxn modelId="{CC966D93-2A15-45B3-8754-929B61A3ADF4}" type="presOf" srcId="{E96260B4-0FC2-4C4B-9295-955922524860}" destId="{709402F7-D48C-4519-86A5-1EEBEAC2E421}" srcOrd="0" destOrd="0" presId="urn:microsoft.com/office/officeart/2005/8/layout/orgChart1"/>
    <dgm:cxn modelId="{8EA49799-C4DC-47BA-BF68-C286593163B0}" type="presOf" srcId="{F01B0D88-A951-43AD-863E-E4EF8E97C904}" destId="{C1E09C23-A12C-4E57-ADEF-6015C3718E31}" srcOrd="0" destOrd="0" presId="urn:microsoft.com/office/officeart/2005/8/layout/orgChart1"/>
    <dgm:cxn modelId="{22A038CC-A39C-4A8F-8F81-03B6D38B6333}" type="presOf" srcId="{6F2ED18C-1801-4069-8C4D-9E2DDEA79DCA}" destId="{BC1C9D9A-5EB3-4C85-89F5-346C7CAEA8F9}" srcOrd="0" destOrd="0" presId="urn:microsoft.com/office/officeart/2005/8/layout/orgChart1"/>
    <dgm:cxn modelId="{71B8FAE1-C025-415E-A65A-6F1BC7D849BC}" srcId="{D2B1D301-5AEA-48F8-B924-772ACA770B2F}" destId="{31A2A9C3-1F9B-4382-8796-23013B5A8D72}" srcOrd="0" destOrd="0" parTransId="{6F2ED18C-1801-4069-8C4D-9E2DDEA79DCA}" sibTransId="{918FB531-0A83-4824-83BC-80AEF6422793}"/>
    <dgm:cxn modelId="{2F9190EF-3900-43A9-90D4-8FDC4F3BCAA8}" type="presOf" srcId="{6188A296-FA29-488F-BBA0-670B9B73FD86}" destId="{7CF3DEDE-A149-4688-A9E4-A13D1C6C394C}" srcOrd="0" destOrd="0" presId="urn:microsoft.com/office/officeart/2005/8/layout/orgChart1"/>
    <dgm:cxn modelId="{22067AFA-1797-4253-9464-D78BC27F4283}" srcId="{D2B1D301-5AEA-48F8-B924-772ACA770B2F}" destId="{F01B0D88-A951-43AD-863E-E4EF8E97C904}" srcOrd="1" destOrd="0" parTransId="{E96260B4-0FC2-4C4B-9295-955922524860}" sibTransId="{A5D3FD35-7B8C-41EE-AFA9-B00E83800C0B}"/>
    <dgm:cxn modelId="{B4F60CC8-0DB1-4F6F-B8C9-C019AE0EF959}" type="presParOf" srcId="{7CF3DEDE-A149-4688-A9E4-A13D1C6C394C}" destId="{06F23E05-C950-4044-BD49-B56D9DC6C30D}" srcOrd="0" destOrd="0" presId="urn:microsoft.com/office/officeart/2005/8/layout/orgChart1"/>
    <dgm:cxn modelId="{1DE324C0-F919-4615-9781-03460D6E0FD7}" type="presParOf" srcId="{06F23E05-C950-4044-BD49-B56D9DC6C30D}" destId="{15978106-0E22-470C-9FBD-F1E8899CA1A5}" srcOrd="0" destOrd="0" presId="urn:microsoft.com/office/officeart/2005/8/layout/orgChart1"/>
    <dgm:cxn modelId="{66FCDC10-5A7A-4B4F-81B7-D4CEA9BBC5F9}" type="presParOf" srcId="{15978106-0E22-470C-9FBD-F1E8899CA1A5}" destId="{E7816C44-F3AB-454D-88A3-4ECC395CF511}" srcOrd="0" destOrd="0" presId="urn:microsoft.com/office/officeart/2005/8/layout/orgChart1"/>
    <dgm:cxn modelId="{3DD953D9-829B-4163-BC34-A33CA8519561}" type="presParOf" srcId="{15978106-0E22-470C-9FBD-F1E8899CA1A5}" destId="{B63F43E4-1F5E-4BC2-B633-5F4D69F727A8}" srcOrd="1" destOrd="0" presId="urn:microsoft.com/office/officeart/2005/8/layout/orgChart1"/>
    <dgm:cxn modelId="{20F2C173-689D-431D-BB9B-9D65BE559359}" type="presParOf" srcId="{06F23E05-C950-4044-BD49-B56D9DC6C30D}" destId="{B1959243-944E-419D-A7C5-B256A13AB11E}" srcOrd="1" destOrd="0" presId="urn:microsoft.com/office/officeart/2005/8/layout/orgChart1"/>
    <dgm:cxn modelId="{7F3BF213-46E6-41AE-8191-CE7C434B3197}" type="presParOf" srcId="{B1959243-944E-419D-A7C5-B256A13AB11E}" destId="{BC1C9D9A-5EB3-4C85-89F5-346C7CAEA8F9}" srcOrd="0" destOrd="0" presId="urn:microsoft.com/office/officeart/2005/8/layout/orgChart1"/>
    <dgm:cxn modelId="{1F5E05FE-7B16-41CA-89DA-F59F5B11CD3B}" type="presParOf" srcId="{B1959243-944E-419D-A7C5-B256A13AB11E}" destId="{CF822DF1-72A2-465F-A90C-A50B512D1358}" srcOrd="1" destOrd="0" presId="urn:microsoft.com/office/officeart/2005/8/layout/orgChart1"/>
    <dgm:cxn modelId="{16024B00-E8CE-4406-94B1-EF0CB6A9DE5C}" type="presParOf" srcId="{CF822DF1-72A2-465F-A90C-A50B512D1358}" destId="{A9A49B35-669B-42DB-A885-30F571E183A1}" srcOrd="0" destOrd="0" presId="urn:microsoft.com/office/officeart/2005/8/layout/orgChart1"/>
    <dgm:cxn modelId="{143F9440-2DA8-48CE-9D8F-765BE85FE480}" type="presParOf" srcId="{A9A49B35-669B-42DB-A885-30F571E183A1}" destId="{EEDFA48C-D3D5-4953-B277-E091294A6F1B}" srcOrd="0" destOrd="0" presId="urn:microsoft.com/office/officeart/2005/8/layout/orgChart1"/>
    <dgm:cxn modelId="{32494882-9024-4354-8166-59352D312CA7}" type="presParOf" srcId="{A9A49B35-669B-42DB-A885-30F571E183A1}" destId="{61E865F8-975B-4AE9-8DA8-53455BB59C1B}" srcOrd="1" destOrd="0" presId="urn:microsoft.com/office/officeart/2005/8/layout/orgChart1"/>
    <dgm:cxn modelId="{1F0EAE1E-9860-4392-91A2-E47272FBF606}" type="presParOf" srcId="{CF822DF1-72A2-465F-A90C-A50B512D1358}" destId="{C2F2C77E-5990-4257-AE75-3EF5A2F38924}" srcOrd="1" destOrd="0" presId="urn:microsoft.com/office/officeart/2005/8/layout/orgChart1"/>
    <dgm:cxn modelId="{067E4727-3BFE-421C-95DE-FF1E69D01600}" type="presParOf" srcId="{CF822DF1-72A2-465F-A90C-A50B512D1358}" destId="{A074DA24-BE42-4AFB-B7FC-E6B10B1DC338}" srcOrd="2" destOrd="0" presId="urn:microsoft.com/office/officeart/2005/8/layout/orgChart1"/>
    <dgm:cxn modelId="{2FEE451B-B611-4745-BE9F-21C10B81A21D}" type="presParOf" srcId="{B1959243-944E-419D-A7C5-B256A13AB11E}" destId="{709402F7-D48C-4519-86A5-1EEBEAC2E421}" srcOrd="2" destOrd="0" presId="urn:microsoft.com/office/officeart/2005/8/layout/orgChart1"/>
    <dgm:cxn modelId="{C475B4F4-4BBF-41AA-A7EF-8ED393BCE3BA}" type="presParOf" srcId="{B1959243-944E-419D-A7C5-B256A13AB11E}" destId="{C9C04D8C-9659-4D95-A9F2-CE896E596A9D}" srcOrd="3" destOrd="0" presId="urn:microsoft.com/office/officeart/2005/8/layout/orgChart1"/>
    <dgm:cxn modelId="{51EAD112-BC39-43E1-BF25-A6DB2DB4127E}" type="presParOf" srcId="{C9C04D8C-9659-4D95-A9F2-CE896E596A9D}" destId="{47F3FD1F-B2C9-4E64-B184-4B65B35B0D2E}" srcOrd="0" destOrd="0" presId="urn:microsoft.com/office/officeart/2005/8/layout/orgChart1"/>
    <dgm:cxn modelId="{5C4998F6-4E75-44BB-B01C-2AF9339EFA70}" type="presParOf" srcId="{47F3FD1F-B2C9-4E64-B184-4B65B35B0D2E}" destId="{C1E09C23-A12C-4E57-ADEF-6015C3718E31}" srcOrd="0" destOrd="0" presId="urn:microsoft.com/office/officeart/2005/8/layout/orgChart1"/>
    <dgm:cxn modelId="{870EC53B-A6AF-4E78-AEDD-E5255D535BB1}" type="presParOf" srcId="{47F3FD1F-B2C9-4E64-B184-4B65B35B0D2E}" destId="{962E0550-D901-4FAE-A2B6-EB57155A52CC}" srcOrd="1" destOrd="0" presId="urn:microsoft.com/office/officeart/2005/8/layout/orgChart1"/>
    <dgm:cxn modelId="{1F7EAF07-D0C9-4DC1-8DF3-71A58C7ADCFF}" type="presParOf" srcId="{C9C04D8C-9659-4D95-A9F2-CE896E596A9D}" destId="{E930F5A9-F2DA-4756-A8D1-4ACF8C1B5552}" srcOrd="1" destOrd="0" presId="urn:microsoft.com/office/officeart/2005/8/layout/orgChart1"/>
    <dgm:cxn modelId="{83CCC27A-F209-456E-94A0-897A818CCDA6}" type="presParOf" srcId="{C9C04D8C-9659-4D95-A9F2-CE896E596A9D}" destId="{61D0D38B-6CA3-4BD8-835F-65FD4D14B089}" srcOrd="2" destOrd="0" presId="urn:microsoft.com/office/officeart/2005/8/layout/orgChart1"/>
    <dgm:cxn modelId="{7D0E68B4-C454-4FD1-94B2-7100F41BF27E}" type="presParOf" srcId="{06F23E05-C950-4044-BD49-B56D9DC6C30D}" destId="{52B4970E-865A-4AB1-9A96-9125A2E1FE87}"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98FD86-F712-4214-B431-423195293A9C}" type="doc">
      <dgm:prSet loTypeId="urn:microsoft.com/office/officeart/2005/8/layout/chevronAccent+Icon" loCatId="process" qsTypeId="urn:microsoft.com/office/officeart/2005/8/quickstyle/simple1" qsCatId="simple" csTypeId="urn:microsoft.com/office/officeart/2005/8/colors/accent6_3" csCatId="accent6" phldr="1"/>
      <dgm:spPr/>
      <dgm:t>
        <a:bodyPr/>
        <a:lstStyle/>
        <a:p>
          <a:endParaRPr lang="en-IN"/>
        </a:p>
      </dgm:t>
    </dgm:pt>
    <dgm:pt modelId="{F487E93B-B8EA-4B4F-BAEF-FDC56509C96D}">
      <dgm:prSet phldrT="[Text]" custT="1"/>
      <dgm:spPr/>
      <dgm:t>
        <a:bodyPr/>
        <a:lstStyle/>
        <a:p>
          <a:r>
            <a:rPr lang="en-IN" sz="1600" b="1" dirty="0"/>
            <a:t>Geometrical Modelling</a:t>
          </a:r>
        </a:p>
      </dgm:t>
    </dgm:pt>
    <dgm:pt modelId="{358389E5-57B3-46BE-B8D5-EEE21A5E5B6E}" type="parTrans" cxnId="{5BB6F1D6-19D5-4FCC-9B7F-E7EEAD8B9D32}">
      <dgm:prSet/>
      <dgm:spPr/>
      <dgm:t>
        <a:bodyPr/>
        <a:lstStyle/>
        <a:p>
          <a:endParaRPr lang="en-IN"/>
        </a:p>
      </dgm:t>
    </dgm:pt>
    <dgm:pt modelId="{55EB4453-B93B-4ABC-9FC8-3C3F9ABB905B}" type="sibTrans" cxnId="{5BB6F1D6-19D5-4FCC-9B7F-E7EEAD8B9D32}">
      <dgm:prSet/>
      <dgm:spPr/>
      <dgm:t>
        <a:bodyPr/>
        <a:lstStyle/>
        <a:p>
          <a:endParaRPr lang="en-IN"/>
        </a:p>
      </dgm:t>
    </dgm:pt>
    <dgm:pt modelId="{8CDD8C03-8397-4AA0-AC80-F37B7F84A08D}">
      <dgm:prSet phldrT="[Text]" custT="1"/>
      <dgm:spPr/>
      <dgm:t>
        <a:bodyPr/>
        <a:lstStyle/>
        <a:p>
          <a:r>
            <a:rPr lang="en-IN" sz="1400" dirty="0"/>
            <a:t>Base model</a:t>
          </a:r>
        </a:p>
      </dgm:t>
    </dgm:pt>
    <dgm:pt modelId="{0CDF5F9C-3F87-47E3-A9EE-FC046C6ED23A}" type="parTrans" cxnId="{E1CCF0B3-0A60-4059-A41B-F991B45FF40B}">
      <dgm:prSet/>
      <dgm:spPr/>
      <dgm:t>
        <a:bodyPr/>
        <a:lstStyle/>
        <a:p>
          <a:endParaRPr lang="en-IN"/>
        </a:p>
      </dgm:t>
    </dgm:pt>
    <dgm:pt modelId="{137102DD-E66D-4E44-AD20-45156CA4EC0E}" type="sibTrans" cxnId="{E1CCF0B3-0A60-4059-A41B-F991B45FF40B}">
      <dgm:prSet/>
      <dgm:spPr/>
      <dgm:t>
        <a:bodyPr/>
        <a:lstStyle/>
        <a:p>
          <a:endParaRPr lang="en-IN"/>
        </a:p>
      </dgm:t>
    </dgm:pt>
    <dgm:pt modelId="{7ECB9AFE-F113-457E-9458-23887298A0BC}">
      <dgm:prSet phldrT="[Text]" custT="1"/>
      <dgm:spPr/>
      <dgm:t>
        <a:bodyPr/>
        <a:lstStyle/>
        <a:p>
          <a:r>
            <a:rPr lang="en-IN" sz="1600" b="1" dirty="0"/>
            <a:t>Physical Model</a:t>
          </a:r>
        </a:p>
      </dgm:t>
    </dgm:pt>
    <dgm:pt modelId="{059F0F98-04B7-4010-BD28-28849BBA693B}" type="parTrans" cxnId="{C4B41911-2B03-415F-8D86-CE0A9F04C389}">
      <dgm:prSet/>
      <dgm:spPr/>
      <dgm:t>
        <a:bodyPr/>
        <a:lstStyle/>
        <a:p>
          <a:endParaRPr lang="en-IN"/>
        </a:p>
      </dgm:t>
    </dgm:pt>
    <dgm:pt modelId="{992DB9AB-A2A5-4DA0-9D0B-19D54E6ABA1F}" type="sibTrans" cxnId="{C4B41911-2B03-415F-8D86-CE0A9F04C389}">
      <dgm:prSet/>
      <dgm:spPr/>
      <dgm:t>
        <a:bodyPr/>
        <a:lstStyle/>
        <a:p>
          <a:endParaRPr lang="en-IN"/>
        </a:p>
      </dgm:t>
    </dgm:pt>
    <dgm:pt modelId="{98D14CEA-144C-45E1-B5C7-A55B22D43433}">
      <dgm:prSet phldrT="[Text]" custT="1"/>
      <dgm:spPr/>
      <dgm:t>
        <a:bodyPr/>
        <a:lstStyle/>
        <a:p>
          <a:r>
            <a:rPr lang="en-IN" sz="1400" dirty="0"/>
            <a:t>Laminar flow(</a:t>
          </a:r>
          <a:r>
            <a:rPr lang="en-IN" sz="1400" dirty="0" err="1"/>
            <a:t>spf</a:t>
          </a:r>
          <a:r>
            <a:rPr lang="en-IN" sz="1400" dirty="0"/>
            <a:t>) model</a:t>
          </a:r>
        </a:p>
      </dgm:t>
    </dgm:pt>
    <dgm:pt modelId="{EE585741-736B-43DE-A212-EAB52CC6799D}" type="parTrans" cxnId="{B013816C-223C-4BFF-96AA-A1B5CB3072F3}">
      <dgm:prSet/>
      <dgm:spPr/>
      <dgm:t>
        <a:bodyPr/>
        <a:lstStyle/>
        <a:p>
          <a:endParaRPr lang="en-IN"/>
        </a:p>
      </dgm:t>
    </dgm:pt>
    <dgm:pt modelId="{4B7EB2F7-A4FF-4AEA-AE27-FFAA21B93BA3}" type="sibTrans" cxnId="{B013816C-223C-4BFF-96AA-A1B5CB3072F3}">
      <dgm:prSet/>
      <dgm:spPr/>
      <dgm:t>
        <a:bodyPr/>
        <a:lstStyle/>
        <a:p>
          <a:endParaRPr lang="en-IN"/>
        </a:p>
      </dgm:t>
    </dgm:pt>
    <dgm:pt modelId="{DEEB43F5-427E-47F3-8EE4-F2464B1A265A}">
      <dgm:prSet phldrT="[Text]" custT="1"/>
      <dgm:spPr/>
      <dgm:t>
        <a:bodyPr/>
        <a:lstStyle/>
        <a:p>
          <a:r>
            <a:rPr lang="en-IN" sz="1600" b="1" dirty="0"/>
            <a:t>Flow Study</a:t>
          </a:r>
        </a:p>
      </dgm:t>
    </dgm:pt>
    <dgm:pt modelId="{0B159D3E-5CE9-451D-BCCF-7279C8854C10}" type="parTrans" cxnId="{2BE9B53F-7F9E-4185-B207-0703917273BB}">
      <dgm:prSet/>
      <dgm:spPr/>
      <dgm:t>
        <a:bodyPr/>
        <a:lstStyle/>
        <a:p>
          <a:endParaRPr lang="en-IN"/>
        </a:p>
      </dgm:t>
    </dgm:pt>
    <dgm:pt modelId="{BCCBFD02-A4BB-499F-A9B9-6FBB281E10AF}" type="sibTrans" cxnId="{2BE9B53F-7F9E-4185-B207-0703917273BB}">
      <dgm:prSet/>
      <dgm:spPr/>
      <dgm:t>
        <a:bodyPr/>
        <a:lstStyle/>
        <a:p>
          <a:endParaRPr lang="en-IN"/>
        </a:p>
      </dgm:t>
    </dgm:pt>
    <dgm:pt modelId="{2F3663D1-3A23-4A60-B843-44A1886037EB}">
      <dgm:prSet phldrT="[Text]" custT="1"/>
      <dgm:spPr/>
      <dgm:t>
        <a:bodyPr/>
        <a:lstStyle/>
        <a:p>
          <a:r>
            <a:rPr lang="en-IN" sz="1400" dirty="0"/>
            <a:t>Mesh convergence study</a:t>
          </a:r>
        </a:p>
      </dgm:t>
    </dgm:pt>
    <dgm:pt modelId="{F8858680-AE99-485A-B1B5-A3A5BD9FB123}" type="parTrans" cxnId="{234C1F32-BE1B-4FC2-8BC2-ACF52BA1F0CE}">
      <dgm:prSet/>
      <dgm:spPr/>
      <dgm:t>
        <a:bodyPr/>
        <a:lstStyle/>
        <a:p>
          <a:endParaRPr lang="en-IN"/>
        </a:p>
      </dgm:t>
    </dgm:pt>
    <dgm:pt modelId="{1FEF37BF-BB6C-47EE-9952-A7C601E9A299}" type="sibTrans" cxnId="{234C1F32-BE1B-4FC2-8BC2-ACF52BA1F0CE}">
      <dgm:prSet/>
      <dgm:spPr/>
      <dgm:t>
        <a:bodyPr/>
        <a:lstStyle/>
        <a:p>
          <a:endParaRPr lang="en-IN"/>
        </a:p>
      </dgm:t>
    </dgm:pt>
    <dgm:pt modelId="{D58D918E-9EE2-447D-ADD0-6024EC583ED7}">
      <dgm:prSet custT="1"/>
      <dgm:spPr/>
      <dgm:t>
        <a:bodyPr/>
        <a:lstStyle/>
        <a:p>
          <a:r>
            <a:rPr lang="en-IN" sz="1400" dirty="0"/>
            <a:t>Reacting flow, Diluted species(rfd1)</a:t>
          </a:r>
        </a:p>
      </dgm:t>
    </dgm:pt>
    <dgm:pt modelId="{1EA1D797-8774-49E3-A30D-356A03B1A065}" type="parTrans" cxnId="{DBEDF401-983E-4770-8681-BCAB74252590}">
      <dgm:prSet/>
      <dgm:spPr/>
      <dgm:t>
        <a:bodyPr/>
        <a:lstStyle/>
        <a:p>
          <a:endParaRPr lang="en-IN"/>
        </a:p>
      </dgm:t>
    </dgm:pt>
    <dgm:pt modelId="{4A008AD1-B648-420A-9A6D-FA50F9A1FF29}" type="sibTrans" cxnId="{DBEDF401-983E-4770-8681-BCAB74252590}">
      <dgm:prSet/>
      <dgm:spPr/>
      <dgm:t>
        <a:bodyPr/>
        <a:lstStyle/>
        <a:p>
          <a:endParaRPr lang="en-IN"/>
        </a:p>
      </dgm:t>
    </dgm:pt>
    <dgm:pt modelId="{A6C5C39C-B6ED-451F-80A0-F4F11D9D5568}">
      <dgm:prSet phldrT="[Text]" custT="1"/>
      <dgm:spPr/>
      <dgm:t>
        <a:bodyPr/>
        <a:lstStyle/>
        <a:p>
          <a:r>
            <a:rPr lang="en-IN" sz="1400" dirty="0"/>
            <a:t>Dimensions provided by Hummingbird Scientific</a:t>
          </a:r>
        </a:p>
      </dgm:t>
    </dgm:pt>
    <dgm:pt modelId="{BC6D1DD8-3954-41D9-9C20-AE3A1558C0F8}" type="parTrans" cxnId="{D6239A9E-6068-4809-A8E6-EA341ADC1CE2}">
      <dgm:prSet/>
      <dgm:spPr/>
      <dgm:t>
        <a:bodyPr/>
        <a:lstStyle/>
        <a:p>
          <a:endParaRPr lang="en-IN"/>
        </a:p>
      </dgm:t>
    </dgm:pt>
    <dgm:pt modelId="{94BEB564-C961-45E6-A0D7-AD4474A9903D}" type="sibTrans" cxnId="{D6239A9E-6068-4809-A8E6-EA341ADC1CE2}">
      <dgm:prSet/>
      <dgm:spPr/>
      <dgm:t>
        <a:bodyPr/>
        <a:lstStyle/>
        <a:p>
          <a:endParaRPr lang="en-IN"/>
        </a:p>
      </dgm:t>
    </dgm:pt>
    <dgm:pt modelId="{407389D6-B20E-4828-AD42-017780617F09}">
      <dgm:prSet phldrT="[Text]" custT="1"/>
      <dgm:spPr/>
      <dgm:t>
        <a:bodyPr/>
        <a:lstStyle/>
        <a:p>
          <a:r>
            <a:rPr lang="en-IN" sz="1600" b="1" dirty="0"/>
            <a:t>Results Visualization</a:t>
          </a:r>
        </a:p>
      </dgm:t>
    </dgm:pt>
    <dgm:pt modelId="{FBADCA59-CF2E-4390-BA85-92807D46C14F}" type="parTrans" cxnId="{B9814E26-FE1A-4123-9BDC-C5CA3C62980E}">
      <dgm:prSet/>
      <dgm:spPr/>
      <dgm:t>
        <a:bodyPr/>
        <a:lstStyle/>
        <a:p>
          <a:endParaRPr lang="en-IN"/>
        </a:p>
      </dgm:t>
    </dgm:pt>
    <dgm:pt modelId="{C5CDDAC6-42CB-4DF9-8D98-11E1A38D2C98}" type="sibTrans" cxnId="{B9814E26-FE1A-4123-9BDC-C5CA3C62980E}">
      <dgm:prSet/>
      <dgm:spPr/>
      <dgm:t>
        <a:bodyPr/>
        <a:lstStyle/>
        <a:p>
          <a:endParaRPr lang="en-IN"/>
        </a:p>
      </dgm:t>
    </dgm:pt>
    <dgm:pt modelId="{898131D9-7CA0-4E67-B95A-4EBD2F93C693}">
      <dgm:prSet phldrT="[Text]" custT="1"/>
      <dgm:spPr/>
      <dgm:t>
        <a:bodyPr/>
        <a:lstStyle/>
        <a:p>
          <a:r>
            <a:rPr lang="en-US" sz="1400" dirty="0">
              <a:ea typeface="+mn-lt"/>
              <a:cs typeface="+mn-lt"/>
            </a:rPr>
            <a:t>Velocity profile</a:t>
          </a:r>
          <a:endParaRPr lang="en-IN" sz="1400" dirty="0"/>
        </a:p>
      </dgm:t>
    </dgm:pt>
    <dgm:pt modelId="{B083C1D5-3DB6-42B7-B9CF-F3A250B3F182}" type="parTrans" cxnId="{3EBCFB89-644A-4DAF-BF5E-93464B99CEEA}">
      <dgm:prSet/>
      <dgm:spPr/>
      <dgm:t>
        <a:bodyPr/>
        <a:lstStyle/>
        <a:p>
          <a:endParaRPr lang="en-IN"/>
        </a:p>
      </dgm:t>
    </dgm:pt>
    <dgm:pt modelId="{5186F35C-B49C-4EB4-A89A-E304C53EA778}" type="sibTrans" cxnId="{3EBCFB89-644A-4DAF-BF5E-93464B99CEEA}">
      <dgm:prSet/>
      <dgm:spPr/>
      <dgm:t>
        <a:bodyPr/>
        <a:lstStyle/>
        <a:p>
          <a:endParaRPr lang="en-IN"/>
        </a:p>
      </dgm:t>
    </dgm:pt>
    <dgm:pt modelId="{90B37E00-F230-4EE8-B43E-43E9F6572367}">
      <dgm:prSet custT="1"/>
      <dgm:spPr/>
      <dgm:t>
        <a:bodyPr/>
        <a:lstStyle/>
        <a:p>
          <a:r>
            <a:rPr lang="en-US" sz="1400" dirty="0">
              <a:ea typeface="+mn-lt"/>
              <a:cs typeface="+mn-lt"/>
            </a:rPr>
            <a:t>Concentration profile </a:t>
          </a:r>
        </a:p>
      </dgm:t>
    </dgm:pt>
    <dgm:pt modelId="{ED6DF4DA-ECDC-40B0-B6C1-8D7983653523}" type="parTrans" cxnId="{F199DB6A-23D2-43A6-AB0C-1B86AA4BE059}">
      <dgm:prSet/>
      <dgm:spPr/>
      <dgm:t>
        <a:bodyPr/>
        <a:lstStyle/>
        <a:p>
          <a:endParaRPr lang="en-IN"/>
        </a:p>
      </dgm:t>
    </dgm:pt>
    <dgm:pt modelId="{F0834F7F-1559-46BF-A2CC-5AB9571A42EC}" type="sibTrans" cxnId="{F199DB6A-23D2-43A6-AB0C-1B86AA4BE059}">
      <dgm:prSet/>
      <dgm:spPr/>
      <dgm:t>
        <a:bodyPr/>
        <a:lstStyle/>
        <a:p>
          <a:endParaRPr lang="en-IN"/>
        </a:p>
      </dgm:t>
    </dgm:pt>
    <dgm:pt modelId="{901BF8C3-1DFE-4993-BD45-B58AB0CB9D1D}">
      <dgm:prSet custT="1"/>
      <dgm:spPr/>
      <dgm:t>
        <a:bodyPr/>
        <a:lstStyle/>
        <a:p>
          <a:r>
            <a:rPr lang="en-US" sz="1400" dirty="0">
              <a:ea typeface="+mn-lt"/>
              <a:cs typeface="+mn-lt"/>
            </a:rPr>
            <a:t>Pressure drop maps</a:t>
          </a:r>
        </a:p>
      </dgm:t>
    </dgm:pt>
    <dgm:pt modelId="{C6D29B9F-FBE6-4C7D-B9F5-5954DCB954F6}" type="parTrans" cxnId="{974C8AA4-E18C-403F-A4DE-B87B34E258FF}">
      <dgm:prSet/>
      <dgm:spPr/>
      <dgm:t>
        <a:bodyPr/>
        <a:lstStyle/>
        <a:p>
          <a:endParaRPr lang="en-IN"/>
        </a:p>
      </dgm:t>
    </dgm:pt>
    <dgm:pt modelId="{B14986BD-EA2E-44CD-9A70-9ACA62C82EFF}" type="sibTrans" cxnId="{974C8AA4-E18C-403F-A4DE-B87B34E258FF}">
      <dgm:prSet/>
      <dgm:spPr/>
      <dgm:t>
        <a:bodyPr/>
        <a:lstStyle/>
        <a:p>
          <a:endParaRPr lang="en-IN"/>
        </a:p>
      </dgm:t>
    </dgm:pt>
    <dgm:pt modelId="{8428AE86-D02A-42D2-BFEB-09CE2BD31707}">
      <dgm:prSet custT="1"/>
      <dgm:spPr/>
      <dgm:t>
        <a:bodyPr/>
        <a:lstStyle/>
        <a:p>
          <a:r>
            <a:rPr lang="en-US" sz="1400" dirty="0">
              <a:ea typeface="+mn-lt"/>
              <a:cs typeface="+mn-lt"/>
            </a:rPr>
            <a:t>Outlet concentration patterns</a:t>
          </a:r>
        </a:p>
      </dgm:t>
    </dgm:pt>
    <dgm:pt modelId="{81ED473F-F80F-4501-BF87-DC85BBF718D7}" type="parTrans" cxnId="{29956241-805E-4629-AE04-D9273756C25C}">
      <dgm:prSet/>
      <dgm:spPr/>
      <dgm:t>
        <a:bodyPr/>
        <a:lstStyle/>
        <a:p>
          <a:endParaRPr lang="en-IN"/>
        </a:p>
      </dgm:t>
    </dgm:pt>
    <dgm:pt modelId="{99B79EBA-E12F-45C2-8BB0-990433153C9D}" type="sibTrans" cxnId="{29956241-805E-4629-AE04-D9273756C25C}">
      <dgm:prSet/>
      <dgm:spPr/>
      <dgm:t>
        <a:bodyPr/>
        <a:lstStyle/>
        <a:p>
          <a:endParaRPr lang="en-IN"/>
        </a:p>
      </dgm:t>
    </dgm:pt>
    <dgm:pt modelId="{2D737626-FC91-4410-A408-09D5295E1731}">
      <dgm:prSet custT="1"/>
      <dgm:spPr/>
      <dgm:t>
        <a:bodyPr/>
        <a:lstStyle/>
        <a:p>
          <a:r>
            <a:rPr lang="en-IN" sz="1400" dirty="0"/>
            <a:t>Mixing index calculation</a:t>
          </a:r>
        </a:p>
      </dgm:t>
    </dgm:pt>
    <dgm:pt modelId="{B227A851-17D0-4D4C-BFAD-A465FE8FC9B8}" type="parTrans" cxnId="{7C3A183E-3771-42E3-AE9F-845AF7C2D8E2}">
      <dgm:prSet/>
      <dgm:spPr/>
      <dgm:t>
        <a:bodyPr/>
        <a:lstStyle/>
        <a:p>
          <a:endParaRPr lang="en-IN"/>
        </a:p>
      </dgm:t>
    </dgm:pt>
    <dgm:pt modelId="{95A4850C-2FD0-4D0B-97C9-38E9F06F9606}" type="sibTrans" cxnId="{7C3A183E-3771-42E3-AE9F-845AF7C2D8E2}">
      <dgm:prSet/>
      <dgm:spPr/>
      <dgm:t>
        <a:bodyPr/>
        <a:lstStyle/>
        <a:p>
          <a:endParaRPr lang="en-IN"/>
        </a:p>
      </dgm:t>
    </dgm:pt>
    <dgm:pt modelId="{83665CE8-4F36-4E79-AF48-5BDF7D4D1136}">
      <dgm:prSet custT="1"/>
      <dgm:spPr/>
      <dgm:t>
        <a:bodyPr/>
        <a:lstStyle/>
        <a:p>
          <a:r>
            <a:rPr lang="en-IN" sz="1400" dirty="0"/>
            <a:t>Peclet number determination</a:t>
          </a:r>
          <a:endParaRPr lang="en-US" sz="1400" dirty="0"/>
        </a:p>
      </dgm:t>
    </dgm:pt>
    <dgm:pt modelId="{5C3E7566-497A-464D-B067-B59716DCF80D}" type="parTrans" cxnId="{66B97B6A-B50A-49AA-8CFE-7310768C4A90}">
      <dgm:prSet/>
      <dgm:spPr/>
      <dgm:t>
        <a:bodyPr/>
        <a:lstStyle/>
        <a:p>
          <a:endParaRPr lang="en-IN"/>
        </a:p>
      </dgm:t>
    </dgm:pt>
    <dgm:pt modelId="{BEC5A82D-5C9F-4FD8-B74C-E7D267ACDE88}" type="sibTrans" cxnId="{66B97B6A-B50A-49AA-8CFE-7310768C4A90}">
      <dgm:prSet/>
      <dgm:spPr/>
      <dgm:t>
        <a:bodyPr/>
        <a:lstStyle/>
        <a:p>
          <a:endParaRPr lang="en-IN"/>
        </a:p>
      </dgm:t>
    </dgm:pt>
    <dgm:pt modelId="{693E7484-D480-4045-9608-0EA18D8BBEDF}">
      <dgm:prSet phldrT="[Text]" custT="1"/>
      <dgm:spPr/>
      <dgm:t>
        <a:bodyPr/>
        <a:lstStyle/>
        <a:p>
          <a:r>
            <a:rPr lang="en-IN" sz="1400" dirty="0"/>
            <a:t>Transport of diluted species(</a:t>
          </a:r>
          <a:r>
            <a:rPr lang="en-IN" sz="1400" dirty="0" err="1"/>
            <a:t>tds</a:t>
          </a:r>
          <a:r>
            <a:rPr lang="en-IN" sz="1400" dirty="0"/>
            <a:t>) model</a:t>
          </a:r>
        </a:p>
      </dgm:t>
    </dgm:pt>
    <dgm:pt modelId="{79D30F16-51F3-4E83-87D2-8ECF14DB280F}" type="parTrans" cxnId="{4B0BBEB3-9649-4B0B-A358-D162C6E541A1}">
      <dgm:prSet/>
      <dgm:spPr/>
      <dgm:t>
        <a:bodyPr/>
        <a:lstStyle/>
        <a:p>
          <a:endParaRPr lang="en-IN"/>
        </a:p>
      </dgm:t>
    </dgm:pt>
    <dgm:pt modelId="{C774A880-2203-4E04-94EE-6B77A40345F7}" type="sibTrans" cxnId="{4B0BBEB3-9649-4B0B-A358-D162C6E541A1}">
      <dgm:prSet/>
      <dgm:spPr/>
      <dgm:t>
        <a:bodyPr/>
        <a:lstStyle/>
        <a:p>
          <a:endParaRPr lang="en-IN"/>
        </a:p>
      </dgm:t>
    </dgm:pt>
    <dgm:pt modelId="{2FFE59F4-24EC-4D86-85C2-A19C4F6C274A}">
      <dgm:prSet phldrT="[Text]" custT="1"/>
      <dgm:spPr/>
      <dgm:t>
        <a:bodyPr/>
        <a:lstStyle/>
        <a:p>
          <a:r>
            <a:rPr lang="en-IN" sz="1400" dirty="0"/>
            <a:t>Time-Dependent study</a:t>
          </a:r>
        </a:p>
      </dgm:t>
    </dgm:pt>
    <dgm:pt modelId="{D5FD7834-E32F-4CD8-9FF6-FB534490C23F}" type="parTrans" cxnId="{A190C822-3242-4F0D-BB58-4710BFE3C7A1}">
      <dgm:prSet/>
      <dgm:spPr/>
      <dgm:t>
        <a:bodyPr/>
        <a:lstStyle/>
        <a:p>
          <a:endParaRPr lang="en-IN"/>
        </a:p>
      </dgm:t>
    </dgm:pt>
    <dgm:pt modelId="{7FC6DE46-C067-43E9-BE07-B97EA5A519F3}" type="sibTrans" cxnId="{A190C822-3242-4F0D-BB58-4710BFE3C7A1}">
      <dgm:prSet/>
      <dgm:spPr/>
      <dgm:t>
        <a:bodyPr/>
        <a:lstStyle/>
        <a:p>
          <a:endParaRPr lang="en-IN"/>
        </a:p>
      </dgm:t>
    </dgm:pt>
    <dgm:pt modelId="{9BB5E713-8FDD-40D0-9BEB-5C788073856D}">
      <dgm:prSet phldrT="[Text]" custT="1"/>
      <dgm:spPr/>
      <dgm:t>
        <a:bodyPr/>
        <a:lstStyle/>
        <a:p>
          <a:r>
            <a:rPr lang="en-IN" sz="1400" dirty="0"/>
            <a:t> Stationary study</a:t>
          </a:r>
        </a:p>
      </dgm:t>
    </dgm:pt>
    <dgm:pt modelId="{1F545594-13DC-400A-9A6E-5B37576F7251}" type="parTrans" cxnId="{0F5DFD4E-0B99-4FE6-BF2A-D5807C9A4B2C}">
      <dgm:prSet/>
      <dgm:spPr/>
      <dgm:t>
        <a:bodyPr/>
        <a:lstStyle/>
        <a:p>
          <a:endParaRPr lang="en-IN"/>
        </a:p>
      </dgm:t>
    </dgm:pt>
    <dgm:pt modelId="{948C3904-701C-41B8-9B6A-91FEF5B88404}" type="sibTrans" cxnId="{0F5DFD4E-0B99-4FE6-BF2A-D5807C9A4B2C}">
      <dgm:prSet/>
      <dgm:spPr/>
      <dgm:t>
        <a:bodyPr/>
        <a:lstStyle/>
        <a:p>
          <a:endParaRPr lang="en-IN"/>
        </a:p>
      </dgm:t>
    </dgm:pt>
    <dgm:pt modelId="{91BF72C6-C1CD-4FA6-B4C5-0654C806AE7C}" type="pres">
      <dgm:prSet presAssocID="{3898FD86-F712-4214-B431-423195293A9C}" presName="Name0" presStyleCnt="0">
        <dgm:presLayoutVars>
          <dgm:dir/>
          <dgm:resizeHandles val="exact"/>
        </dgm:presLayoutVars>
      </dgm:prSet>
      <dgm:spPr/>
    </dgm:pt>
    <dgm:pt modelId="{753D06D2-EF17-4F97-8B03-2DB95B6311BD}" type="pres">
      <dgm:prSet presAssocID="{F487E93B-B8EA-4B4F-BAEF-FDC56509C96D}" presName="composite" presStyleCnt="0"/>
      <dgm:spPr/>
    </dgm:pt>
    <dgm:pt modelId="{E6C81D6F-93C4-4DFE-81E5-B61C86E3A2AB}" type="pres">
      <dgm:prSet presAssocID="{F487E93B-B8EA-4B4F-BAEF-FDC56509C96D}" presName="bgChev" presStyleLbl="node1" presStyleIdx="0" presStyleCnt="4"/>
      <dgm:spPr/>
    </dgm:pt>
    <dgm:pt modelId="{C1C7598B-257E-406F-BF12-09185F6772E6}" type="pres">
      <dgm:prSet presAssocID="{F487E93B-B8EA-4B4F-BAEF-FDC56509C96D}" presName="txNode" presStyleLbl="fgAcc1" presStyleIdx="0" presStyleCnt="4" custScaleY="215831" custLinFactY="188" custLinFactNeighborX="-731" custLinFactNeighborY="100000">
        <dgm:presLayoutVars>
          <dgm:bulletEnabled val="1"/>
        </dgm:presLayoutVars>
      </dgm:prSet>
      <dgm:spPr/>
    </dgm:pt>
    <dgm:pt modelId="{1949969D-0F55-444F-96DB-A8394348B115}" type="pres">
      <dgm:prSet presAssocID="{55EB4453-B93B-4ABC-9FC8-3C3F9ABB905B}" presName="compositeSpace" presStyleCnt="0"/>
      <dgm:spPr/>
    </dgm:pt>
    <dgm:pt modelId="{1993C3A5-70A3-4328-A829-21338EF4448D}" type="pres">
      <dgm:prSet presAssocID="{7ECB9AFE-F113-457E-9458-23887298A0BC}" presName="composite" presStyleCnt="0"/>
      <dgm:spPr/>
    </dgm:pt>
    <dgm:pt modelId="{EC17810F-3D64-4490-89F5-39E847A104CF}" type="pres">
      <dgm:prSet presAssocID="{7ECB9AFE-F113-457E-9458-23887298A0BC}" presName="bgChev" presStyleLbl="node1" presStyleIdx="1" presStyleCnt="4"/>
      <dgm:spPr/>
    </dgm:pt>
    <dgm:pt modelId="{8C33F78E-ADA2-4329-B05C-FFB74A15041D}" type="pres">
      <dgm:prSet presAssocID="{7ECB9AFE-F113-457E-9458-23887298A0BC}" presName="txNode" presStyleLbl="fgAcc1" presStyleIdx="1" presStyleCnt="4" custScaleX="123657" custScaleY="242526" custLinFactY="5558" custLinFactNeighborX="-3096" custLinFactNeighborY="100000">
        <dgm:presLayoutVars>
          <dgm:bulletEnabled val="1"/>
        </dgm:presLayoutVars>
      </dgm:prSet>
      <dgm:spPr/>
    </dgm:pt>
    <dgm:pt modelId="{60C7F5BA-ADC0-449E-BB9E-8EB404FC8FA0}" type="pres">
      <dgm:prSet presAssocID="{992DB9AB-A2A5-4DA0-9D0B-19D54E6ABA1F}" presName="compositeSpace" presStyleCnt="0"/>
      <dgm:spPr/>
    </dgm:pt>
    <dgm:pt modelId="{AE027B53-E2FE-4C72-A43D-1A5EEC1FF016}" type="pres">
      <dgm:prSet presAssocID="{DEEB43F5-427E-47F3-8EE4-F2464B1A265A}" presName="composite" presStyleCnt="0"/>
      <dgm:spPr/>
    </dgm:pt>
    <dgm:pt modelId="{292F7897-2785-4763-ACD8-E5E7FFDE8E97}" type="pres">
      <dgm:prSet presAssocID="{DEEB43F5-427E-47F3-8EE4-F2464B1A265A}" presName="bgChev" presStyleLbl="node1" presStyleIdx="2" presStyleCnt="4"/>
      <dgm:spPr/>
    </dgm:pt>
    <dgm:pt modelId="{2BBEA371-EC1B-4618-99C7-71227198F841}" type="pres">
      <dgm:prSet presAssocID="{DEEB43F5-427E-47F3-8EE4-F2464B1A265A}" presName="txNode" presStyleLbl="fgAcc1" presStyleIdx="2" presStyleCnt="4" custScaleX="113261" custScaleY="217101" custLinFactY="4024" custLinFactNeighborX="1719" custLinFactNeighborY="100000">
        <dgm:presLayoutVars>
          <dgm:bulletEnabled val="1"/>
        </dgm:presLayoutVars>
      </dgm:prSet>
      <dgm:spPr/>
    </dgm:pt>
    <dgm:pt modelId="{3FE26C65-B386-4460-B5D8-A4ADF2C09974}" type="pres">
      <dgm:prSet presAssocID="{BCCBFD02-A4BB-499F-A9B9-6FBB281E10AF}" presName="compositeSpace" presStyleCnt="0"/>
      <dgm:spPr/>
    </dgm:pt>
    <dgm:pt modelId="{65E45F78-0D87-4D7A-A1F9-4B67EC013C9D}" type="pres">
      <dgm:prSet presAssocID="{407389D6-B20E-4828-AD42-017780617F09}" presName="composite" presStyleCnt="0"/>
      <dgm:spPr/>
    </dgm:pt>
    <dgm:pt modelId="{31D37010-6BAF-404A-93EB-2424AEB03D69}" type="pres">
      <dgm:prSet presAssocID="{407389D6-B20E-4828-AD42-017780617F09}" presName="bgChev" presStyleLbl="node1" presStyleIdx="3" presStyleCnt="4" custLinFactNeighborX="-651" custLinFactNeighborY="9916"/>
      <dgm:spPr/>
    </dgm:pt>
    <dgm:pt modelId="{DD0AC49E-C687-4C39-BCC6-D2EBDA725177}" type="pres">
      <dgm:prSet presAssocID="{407389D6-B20E-4828-AD42-017780617F09}" presName="txNode" presStyleLbl="fgAcc1" presStyleIdx="3" presStyleCnt="4" custScaleX="140411" custScaleY="297194" custLinFactY="40133" custLinFactNeighborX="6166" custLinFactNeighborY="100000">
        <dgm:presLayoutVars>
          <dgm:bulletEnabled val="1"/>
        </dgm:presLayoutVars>
      </dgm:prSet>
      <dgm:spPr/>
    </dgm:pt>
  </dgm:ptLst>
  <dgm:cxnLst>
    <dgm:cxn modelId="{DBEDF401-983E-4770-8681-BCAB74252590}" srcId="{7ECB9AFE-F113-457E-9458-23887298A0BC}" destId="{D58D918E-9EE2-447D-ADD0-6024EC583ED7}" srcOrd="2" destOrd="0" parTransId="{1EA1D797-8774-49E3-A30D-356A03B1A065}" sibTransId="{4A008AD1-B648-420A-9A6D-FA50F9A1FF29}"/>
    <dgm:cxn modelId="{C4B41911-2B03-415F-8D86-CE0A9F04C389}" srcId="{3898FD86-F712-4214-B431-423195293A9C}" destId="{7ECB9AFE-F113-457E-9458-23887298A0BC}" srcOrd="1" destOrd="0" parTransId="{059F0F98-04B7-4010-BD28-28849BBA693B}" sibTransId="{992DB9AB-A2A5-4DA0-9D0B-19D54E6ABA1F}"/>
    <dgm:cxn modelId="{9D9CE31D-91DB-46C0-80A7-B4D867191217}" type="presOf" srcId="{A6C5C39C-B6ED-451F-80A0-F4F11D9D5568}" destId="{C1C7598B-257E-406F-BF12-09185F6772E6}" srcOrd="0" destOrd="2" presId="urn:microsoft.com/office/officeart/2005/8/layout/chevronAccent+Icon"/>
    <dgm:cxn modelId="{A190C822-3242-4F0D-BB58-4710BFE3C7A1}" srcId="{DEEB43F5-427E-47F3-8EE4-F2464B1A265A}" destId="{2FFE59F4-24EC-4D86-85C2-A19C4F6C274A}" srcOrd="2" destOrd="0" parTransId="{D5FD7834-E32F-4CD8-9FF6-FB534490C23F}" sibTransId="{7FC6DE46-C067-43E9-BE07-B97EA5A519F3}"/>
    <dgm:cxn modelId="{B9814E26-FE1A-4123-9BDC-C5CA3C62980E}" srcId="{3898FD86-F712-4214-B431-423195293A9C}" destId="{407389D6-B20E-4828-AD42-017780617F09}" srcOrd="3" destOrd="0" parTransId="{FBADCA59-CF2E-4390-BA85-92807D46C14F}" sibTransId="{C5CDDAC6-42CB-4DF9-8D98-11E1A38D2C98}"/>
    <dgm:cxn modelId="{0F177F2E-3317-4D8B-8E05-E7AB3D4A6EC5}" type="presOf" srcId="{898131D9-7CA0-4E67-B95A-4EBD2F93C693}" destId="{DD0AC49E-C687-4C39-BCC6-D2EBDA725177}" srcOrd="0" destOrd="1" presId="urn:microsoft.com/office/officeart/2005/8/layout/chevronAccent+Icon"/>
    <dgm:cxn modelId="{9D6D8130-B99C-4ABE-A7E5-E9855DED9C6B}" type="presOf" srcId="{3898FD86-F712-4214-B431-423195293A9C}" destId="{91BF72C6-C1CD-4FA6-B4C5-0654C806AE7C}" srcOrd="0" destOrd="0" presId="urn:microsoft.com/office/officeart/2005/8/layout/chevronAccent+Icon"/>
    <dgm:cxn modelId="{234C1F32-BE1B-4FC2-8BC2-ACF52BA1F0CE}" srcId="{DEEB43F5-427E-47F3-8EE4-F2464B1A265A}" destId="{2F3663D1-3A23-4A60-B843-44A1886037EB}" srcOrd="0" destOrd="0" parTransId="{F8858680-AE99-485A-B1B5-A3A5BD9FB123}" sibTransId="{1FEF37BF-BB6C-47EE-9952-A7C601E9A299}"/>
    <dgm:cxn modelId="{7C3A183E-3771-42E3-AE9F-845AF7C2D8E2}" srcId="{407389D6-B20E-4828-AD42-017780617F09}" destId="{2D737626-FC91-4410-A408-09D5295E1731}" srcOrd="4" destOrd="0" parTransId="{B227A851-17D0-4D4C-BFAD-A465FE8FC9B8}" sibTransId="{95A4850C-2FD0-4D0B-97C9-38E9F06F9606}"/>
    <dgm:cxn modelId="{2BE9B53F-7F9E-4185-B207-0703917273BB}" srcId="{3898FD86-F712-4214-B431-423195293A9C}" destId="{DEEB43F5-427E-47F3-8EE4-F2464B1A265A}" srcOrd="2" destOrd="0" parTransId="{0B159D3E-5CE9-451D-BCCF-7279C8854C10}" sibTransId="{BCCBFD02-A4BB-499F-A9B9-6FBB281E10AF}"/>
    <dgm:cxn modelId="{29956241-805E-4629-AE04-D9273756C25C}" srcId="{407389D6-B20E-4828-AD42-017780617F09}" destId="{8428AE86-D02A-42D2-BFEB-09CE2BD31707}" srcOrd="3" destOrd="0" parTransId="{81ED473F-F80F-4501-BF87-DC85BBF718D7}" sibTransId="{99B79EBA-E12F-45C2-8BB0-990433153C9D}"/>
    <dgm:cxn modelId="{EBC8F246-5D3D-4068-8603-E20D119ED911}" type="presOf" srcId="{98D14CEA-144C-45E1-B5C7-A55B22D43433}" destId="{8C33F78E-ADA2-4329-B05C-FFB74A15041D}" srcOrd="0" destOrd="1" presId="urn:microsoft.com/office/officeart/2005/8/layout/chevronAccent+Icon"/>
    <dgm:cxn modelId="{66B97B6A-B50A-49AA-8CFE-7310768C4A90}" srcId="{407389D6-B20E-4828-AD42-017780617F09}" destId="{83665CE8-4F36-4E79-AF48-5BDF7D4D1136}" srcOrd="5" destOrd="0" parTransId="{5C3E7566-497A-464D-B067-B59716DCF80D}" sibTransId="{BEC5A82D-5C9F-4FD8-B74C-E7D267ACDE88}"/>
    <dgm:cxn modelId="{F199DB6A-23D2-43A6-AB0C-1B86AA4BE059}" srcId="{407389D6-B20E-4828-AD42-017780617F09}" destId="{90B37E00-F230-4EE8-B43E-43E9F6572367}" srcOrd="1" destOrd="0" parTransId="{ED6DF4DA-ECDC-40B0-B6C1-8D7983653523}" sibTransId="{F0834F7F-1559-46BF-A2CC-5AB9571A42EC}"/>
    <dgm:cxn modelId="{1AD1656B-A989-4C4F-B847-51DF1074BDEB}" type="presOf" srcId="{693E7484-D480-4045-9608-0EA18D8BBEDF}" destId="{8C33F78E-ADA2-4329-B05C-FFB74A15041D}" srcOrd="0" destOrd="2" presId="urn:microsoft.com/office/officeart/2005/8/layout/chevronAccent+Icon"/>
    <dgm:cxn modelId="{B013816C-223C-4BFF-96AA-A1B5CB3072F3}" srcId="{7ECB9AFE-F113-457E-9458-23887298A0BC}" destId="{98D14CEA-144C-45E1-B5C7-A55B22D43433}" srcOrd="0" destOrd="0" parTransId="{EE585741-736B-43DE-A212-EAB52CC6799D}" sibTransId="{4B7EB2F7-A4FF-4AEA-AE27-FFAA21B93BA3}"/>
    <dgm:cxn modelId="{0F5DFD4E-0B99-4FE6-BF2A-D5807C9A4B2C}" srcId="{DEEB43F5-427E-47F3-8EE4-F2464B1A265A}" destId="{9BB5E713-8FDD-40D0-9BEB-5C788073856D}" srcOrd="1" destOrd="0" parTransId="{1F545594-13DC-400A-9A6E-5B37576F7251}" sibTransId="{948C3904-701C-41B8-9B6A-91FEF5B88404}"/>
    <dgm:cxn modelId="{3E51964F-428C-44C2-8FAE-A4C2D87A4849}" type="presOf" srcId="{D58D918E-9EE2-447D-ADD0-6024EC583ED7}" destId="{8C33F78E-ADA2-4329-B05C-FFB74A15041D}" srcOrd="0" destOrd="3" presId="urn:microsoft.com/office/officeart/2005/8/layout/chevronAccent+Icon"/>
    <dgm:cxn modelId="{2EE70573-2F1A-470A-A0AA-235EF3E39C94}" type="presOf" srcId="{83665CE8-4F36-4E79-AF48-5BDF7D4D1136}" destId="{DD0AC49E-C687-4C39-BCC6-D2EBDA725177}" srcOrd="0" destOrd="6" presId="urn:microsoft.com/office/officeart/2005/8/layout/chevronAccent+Icon"/>
    <dgm:cxn modelId="{C808D77D-9A99-45D0-816E-EA324F5A63D3}" type="presOf" srcId="{F487E93B-B8EA-4B4F-BAEF-FDC56509C96D}" destId="{C1C7598B-257E-406F-BF12-09185F6772E6}" srcOrd="0" destOrd="0" presId="urn:microsoft.com/office/officeart/2005/8/layout/chevronAccent+Icon"/>
    <dgm:cxn modelId="{3EBCFB89-644A-4DAF-BF5E-93464B99CEEA}" srcId="{407389D6-B20E-4828-AD42-017780617F09}" destId="{898131D9-7CA0-4E67-B95A-4EBD2F93C693}" srcOrd="0" destOrd="0" parTransId="{B083C1D5-3DB6-42B7-B9CF-F3A250B3F182}" sibTransId="{5186F35C-B49C-4EB4-A89A-E304C53EA778}"/>
    <dgm:cxn modelId="{E7558294-7CE5-4985-B494-0F0766C763DD}" type="presOf" srcId="{90B37E00-F230-4EE8-B43E-43E9F6572367}" destId="{DD0AC49E-C687-4C39-BCC6-D2EBDA725177}" srcOrd="0" destOrd="2" presId="urn:microsoft.com/office/officeart/2005/8/layout/chevronAccent+Icon"/>
    <dgm:cxn modelId="{F35BDF98-3833-4030-99D3-D00096184FDB}" type="presOf" srcId="{7ECB9AFE-F113-457E-9458-23887298A0BC}" destId="{8C33F78E-ADA2-4329-B05C-FFB74A15041D}" srcOrd="0" destOrd="0" presId="urn:microsoft.com/office/officeart/2005/8/layout/chevronAccent+Icon"/>
    <dgm:cxn modelId="{A2ECA79C-7994-498F-BA4E-089CCA8DF293}" type="presOf" srcId="{2FFE59F4-24EC-4D86-85C2-A19C4F6C274A}" destId="{2BBEA371-EC1B-4618-99C7-71227198F841}" srcOrd="0" destOrd="3" presId="urn:microsoft.com/office/officeart/2005/8/layout/chevronAccent+Icon"/>
    <dgm:cxn modelId="{D6239A9E-6068-4809-A8E6-EA341ADC1CE2}" srcId="{F487E93B-B8EA-4B4F-BAEF-FDC56509C96D}" destId="{A6C5C39C-B6ED-451F-80A0-F4F11D9D5568}" srcOrd="1" destOrd="0" parTransId="{BC6D1DD8-3954-41D9-9C20-AE3A1558C0F8}" sibTransId="{94BEB564-C961-45E6-A0D7-AD4474A9903D}"/>
    <dgm:cxn modelId="{ABEC669F-A1B5-4C99-A138-4E9961FF027A}" type="presOf" srcId="{9BB5E713-8FDD-40D0-9BEB-5C788073856D}" destId="{2BBEA371-EC1B-4618-99C7-71227198F841}" srcOrd="0" destOrd="2" presId="urn:microsoft.com/office/officeart/2005/8/layout/chevronAccent+Icon"/>
    <dgm:cxn modelId="{974C8AA4-E18C-403F-A4DE-B87B34E258FF}" srcId="{407389D6-B20E-4828-AD42-017780617F09}" destId="{901BF8C3-1DFE-4993-BD45-B58AB0CB9D1D}" srcOrd="2" destOrd="0" parTransId="{C6D29B9F-FBE6-4C7D-B9F5-5954DCB954F6}" sibTransId="{B14986BD-EA2E-44CD-9A70-9ACA62C82EFF}"/>
    <dgm:cxn modelId="{AE6A17A9-D71F-487F-8C8E-3F17E47B4722}" type="presOf" srcId="{2D737626-FC91-4410-A408-09D5295E1731}" destId="{DD0AC49E-C687-4C39-BCC6-D2EBDA725177}" srcOrd="0" destOrd="5" presId="urn:microsoft.com/office/officeart/2005/8/layout/chevronAccent+Icon"/>
    <dgm:cxn modelId="{92C685AA-6923-4F73-A779-CA8CECCA0A5A}" type="presOf" srcId="{DEEB43F5-427E-47F3-8EE4-F2464B1A265A}" destId="{2BBEA371-EC1B-4618-99C7-71227198F841}" srcOrd="0" destOrd="0" presId="urn:microsoft.com/office/officeart/2005/8/layout/chevronAccent+Icon"/>
    <dgm:cxn modelId="{4B0BBEB3-9649-4B0B-A358-D162C6E541A1}" srcId="{7ECB9AFE-F113-457E-9458-23887298A0BC}" destId="{693E7484-D480-4045-9608-0EA18D8BBEDF}" srcOrd="1" destOrd="0" parTransId="{79D30F16-51F3-4E83-87D2-8ECF14DB280F}" sibTransId="{C774A880-2203-4E04-94EE-6B77A40345F7}"/>
    <dgm:cxn modelId="{E1CCF0B3-0A60-4059-A41B-F991B45FF40B}" srcId="{F487E93B-B8EA-4B4F-BAEF-FDC56509C96D}" destId="{8CDD8C03-8397-4AA0-AC80-F37B7F84A08D}" srcOrd="0" destOrd="0" parTransId="{0CDF5F9C-3F87-47E3-A9EE-FC046C6ED23A}" sibTransId="{137102DD-E66D-4E44-AD20-45156CA4EC0E}"/>
    <dgm:cxn modelId="{4C1A53B7-DCFC-4CA9-BA32-BC90088F7F22}" type="presOf" srcId="{8428AE86-D02A-42D2-BFEB-09CE2BD31707}" destId="{DD0AC49E-C687-4C39-BCC6-D2EBDA725177}" srcOrd="0" destOrd="4" presId="urn:microsoft.com/office/officeart/2005/8/layout/chevronAccent+Icon"/>
    <dgm:cxn modelId="{5BB6F1D6-19D5-4FCC-9B7F-E7EEAD8B9D32}" srcId="{3898FD86-F712-4214-B431-423195293A9C}" destId="{F487E93B-B8EA-4B4F-BAEF-FDC56509C96D}" srcOrd="0" destOrd="0" parTransId="{358389E5-57B3-46BE-B8D5-EEE21A5E5B6E}" sibTransId="{55EB4453-B93B-4ABC-9FC8-3C3F9ABB905B}"/>
    <dgm:cxn modelId="{CEE9B1DA-212F-4374-8C0A-B849AE0ADBA2}" type="presOf" srcId="{2F3663D1-3A23-4A60-B843-44A1886037EB}" destId="{2BBEA371-EC1B-4618-99C7-71227198F841}" srcOrd="0" destOrd="1" presId="urn:microsoft.com/office/officeart/2005/8/layout/chevronAccent+Icon"/>
    <dgm:cxn modelId="{CB2B5DE5-8E09-4413-A1DF-F30FF0B5A46D}" type="presOf" srcId="{8CDD8C03-8397-4AA0-AC80-F37B7F84A08D}" destId="{C1C7598B-257E-406F-BF12-09185F6772E6}" srcOrd="0" destOrd="1" presId="urn:microsoft.com/office/officeart/2005/8/layout/chevronAccent+Icon"/>
    <dgm:cxn modelId="{B4A4E0EC-B9E7-4FB7-8473-5C92C2C8BB78}" type="presOf" srcId="{901BF8C3-1DFE-4993-BD45-B58AB0CB9D1D}" destId="{DD0AC49E-C687-4C39-BCC6-D2EBDA725177}" srcOrd="0" destOrd="3" presId="urn:microsoft.com/office/officeart/2005/8/layout/chevronAccent+Icon"/>
    <dgm:cxn modelId="{8A588CF6-1AEF-4121-9406-A55613FF01EA}" type="presOf" srcId="{407389D6-B20E-4828-AD42-017780617F09}" destId="{DD0AC49E-C687-4C39-BCC6-D2EBDA725177}" srcOrd="0" destOrd="0" presId="urn:microsoft.com/office/officeart/2005/8/layout/chevronAccent+Icon"/>
    <dgm:cxn modelId="{A4FF0CEF-C767-41C5-AFA1-7C07F557768B}" type="presParOf" srcId="{91BF72C6-C1CD-4FA6-B4C5-0654C806AE7C}" destId="{753D06D2-EF17-4F97-8B03-2DB95B6311BD}" srcOrd="0" destOrd="0" presId="urn:microsoft.com/office/officeart/2005/8/layout/chevronAccent+Icon"/>
    <dgm:cxn modelId="{EC76E36F-F44E-405B-8BBD-6ECC6C51BE1E}" type="presParOf" srcId="{753D06D2-EF17-4F97-8B03-2DB95B6311BD}" destId="{E6C81D6F-93C4-4DFE-81E5-B61C86E3A2AB}" srcOrd="0" destOrd="0" presId="urn:microsoft.com/office/officeart/2005/8/layout/chevronAccent+Icon"/>
    <dgm:cxn modelId="{72F1E9CC-632B-4FE6-8A8A-3B1A3570A424}" type="presParOf" srcId="{753D06D2-EF17-4F97-8B03-2DB95B6311BD}" destId="{C1C7598B-257E-406F-BF12-09185F6772E6}" srcOrd="1" destOrd="0" presId="urn:microsoft.com/office/officeart/2005/8/layout/chevronAccent+Icon"/>
    <dgm:cxn modelId="{003A0E1C-5622-4EF4-ADDC-21BE6CD353E3}" type="presParOf" srcId="{91BF72C6-C1CD-4FA6-B4C5-0654C806AE7C}" destId="{1949969D-0F55-444F-96DB-A8394348B115}" srcOrd="1" destOrd="0" presId="urn:microsoft.com/office/officeart/2005/8/layout/chevronAccent+Icon"/>
    <dgm:cxn modelId="{BD9BBC6E-C03D-448E-87A4-BE7509BA9C8A}" type="presParOf" srcId="{91BF72C6-C1CD-4FA6-B4C5-0654C806AE7C}" destId="{1993C3A5-70A3-4328-A829-21338EF4448D}" srcOrd="2" destOrd="0" presId="urn:microsoft.com/office/officeart/2005/8/layout/chevronAccent+Icon"/>
    <dgm:cxn modelId="{F4453736-D38B-4E74-9B65-AD942296CD67}" type="presParOf" srcId="{1993C3A5-70A3-4328-A829-21338EF4448D}" destId="{EC17810F-3D64-4490-89F5-39E847A104CF}" srcOrd="0" destOrd="0" presId="urn:microsoft.com/office/officeart/2005/8/layout/chevronAccent+Icon"/>
    <dgm:cxn modelId="{D26A764F-E061-4C1F-82F7-362499519573}" type="presParOf" srcId="{1993C3A5-70A3-4328-A829-21338EF4448D}" destId="{8C33F78E-ADA2-4329-B05C-FFB74A15041D}" srcOrd="1" destOrd="0" presId="urn:microsoft.com/office/officeart/2005/8/layout/chevronAccent+Icon"/>
    <dgm:cxn modelId="{0FE60FEC-6505-45A2-998E-B126FE6914EB}" type="presParOf" srcId="{91BF72C6-C1CD-4FA6-B4C5-0654C806AE7C}" destId="{60C7F5BA-ADC0-449E-BB9E-8EB404FC8FA0}" srcOrd="3" destOrd="0" presId="urn:microsoft.com/office/officeart/2005/8/layout/chevronAccent+Icon"/>
    <dgm:cxn modelId="{6B1589DC-248A-4F63-BDB2-E6A4CAF84D00}" type="presParOf" srcId="{91BF72C6-C1CD-4FA6-B4C5-0654C806AE7C}" destId="{AE027B53-E2FE-4C72-A43D-1A5EEC1FF016}" srcOrd="4" destOrd="0" presId="urn:microsoft.com/office/officeart/2005/8/layout/chevronAccent+Icon"/>
    <dgm:cxn modelId="{1961B6F5-73E3-42AC-8DBA-BB02E3DA7746}" type="presParOf" srcId="{AE027B53-E2FE-4C72-A43D-1A5EEC1FF016}" destId="{292F7897-2785-4763-ACD8-E5E7FFDE8E97}" srcOrd="0" destOrd="0" presId="urn:microsoft.com/office/officeart/2005/8/layout/chevronAccent+Icon"/>
    <dgm:cxn modelId="{C53329E6-D290-48FB-B94E-52DB22798039}" type="presParOf" srcId="{AE027B53-E2FE-4C72-A43D-1A5EEC1FF016}" destId="{2BBEA371-EC1B-4618-99C7-71227198F841}" srcOrd="1" destOrd="0" presId="urn:microsoft.com/office/officeart/2005/8/layout/chevronAccent+Icon"/>
    <dgm:cxn modelId="{0895919F-8B7C-4542-9D77-8EF4E48D88F5}" type="presParOf" srcId="{91BF72C6-C1CD-4FA6-B4C5-0654C806AE7C}" destId="{3FE26C65-B386-4460-B5D8-A4ADF2C09974}" srcOrd="5" destOrd="0" presId="urn:microsoft.com/office/officeart/2005/8/layout/chevronAccent+Icon"/>
    <dgm:cxn modelId="{A1B2F28E-BBCE-4E5E-B6BE-5CC2AE22D26C}" type="presParOf" srcId="{91BF72C6-C1CD-4FA6-B4C5-0654C806AE7C}" destId="{65E45F78-0D87-4D7A-A1F9-4B67EC013C9D}" srcOrd="6" destOrd="0" presId="urn:microsoft.com/office/officeart/2005/8/layout/chevronAccent+Icon"/>
    <dgm:cxn modelId="{8868D2D3-C098-4660-B826-9D2AF43FF9EF}" type="presParOf" srcId="{65E45F78-0D87-4D7A-A1F9-4B67EC013C9D}" destId="{31D37010-6BAF-404A-93EB-2424AEB03D69}" srcOrd="0" destOrd="0" presId="urn:microsoft.com/office/officeart/2005/8/layout/chevronAccent+Icon"/>
    <dgm:cxn modelId="{BB2B7EB2-04A1-4C3A-B84F-A7F39F4642E3}" type="presParOf" srcId="{65E45F78-0D87-4D7A-A1F9-4B67EC013C9D}" destId="{DD0AC49E-C687-4C39-BCC6-D2EBDA725177}" srcOrd="1" destOrd="0" presId="urn:microsoft.com/office/officeart/2005/8/layout/chevronAccen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F6497C1-B4C4-4D13-B468-9B5271433F8A}"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10A4E2AE-DFE0-4F42-8C0F-ED103084668E}">
      <dgm:prSet/>
      <dgm:spPr/>
      <dgm:t>
        <a:bodyPr/>
        <a:lstStyle/>
        <a:p>
          <a:r>
            <a:rPr lang="en-US" dirty="0"/>
            <a:t>Generate concentration profile by use of Parallelogram barriers in mixing tube</a:t>
          </a:r>
        </a:p>
      </dgm:t>
    </dgm:pt>
    <dgm:pt modelId="{01BBB17D-A455-46E7-BE90-C4D57000837E}" type="parTrans" cxnId="{40823D75-9FC8-4F2F-A633-20A09704FA0E}">
      <dgm:prSet/>
      <dgm:spPr/>
      <dgm:t>
        <a:bodyPr/>
        <a:lstStyle/>
        <a:p>
          <a:endParaRPr lang="en-US"/>
        </a:p>
      </dgm:t>
    </dgm:pt>
    <dgm:pt modelId="{C65E764F-6DF0-4AFB-A7EB-EA857A99DF34}" type="sibTrans" cxnId="{40823D75-9FC8-4F2F-A633-20A09704FA0E}">
      <dgm:prSet/>
      <dgm:spPr/>
      <dgm:t>
        <a:bodyPr/>
        <a:lstStyle/>
        <a:p>
          <a:endParaRPr lang="en-US"/>
        </a:p>
      </dgm:t>
    </dgm:pt>
    <dgm:pt modelId="{870B641D-A850-4080-8189-69D3540C6ADB}">
      <dgm:prSet/>
      <dgm:spPr/>
      <dgm:t>
        <a:bodyPr/>
        <a:lstStyle/>
        <a:p>
          <a:r>
            <a:rPr lang="en-US" dirty="0"/>
            <a:t>Implementation of a hybrid mixing system of both passive and active methods (Example : Pulsating inlet flow.)</a:t>
          </a:r>
        </a:p>
      </dgm:t>
    </dgm:pt>
    <dgm:pt modelId="{0622A24F-C8E8-4057-9BBD-15E7BAE89D05}" type="parTrans" cxnId="{10851266-59F8-45E0-A0A8-C9739F8559FB}">
      <dgm:prSet/>
      <dgm:spPr/>
      <dgm:t>
        <a:bodyPr/>
        <a:lstStyle/>
        <a:p>
          <a:endParaRPr lang="en-US"/>
        </a:p>
      </dgm:t>
    </dgm:pt>
    <dgm:pt modelId="{2ECDD70D-0F19-49F6-9030-31ED9A1D18CD}" type="sibTrans" cxnId="{10851266-59F8-45E0-A0A8-C9739F8559FB}">
      <dgm:prSet/>
      <dgm:spPr/>
      <dgm:t>
        <a:bodyPr/>
        <a:lstStyle/>
        <a:p>
          <a:endParaRPr lang="en-US"/>
        </a:p>
      </dgm:t>
    </dgm:pt>
    <dgm:pt modelId="{F73B70A2-BEDA-417C-9D44-C2B716CED24B}">
      <dgm:prSet/>
      <dgm:spPr/>
      <dgm:t>
        <a:bodyPr/>
        <a:lstStyle/>
        <a:p>
          <a:r>
            <a:rPr lang="en-IN" dirty="0"/>
            <a:t>Generating time dependent concentration maps profiles of modified design</a:t>
          </a:r>
          <a:endParaRPr lang="en-US" dirty="0"/>
        </a:p>
      </dgm:t>
    </dgm:pt>
    <dgm:pt modelId="{CA35B256-A92E-4EEE-BE4D-95EBB3096528}" type="parTrans" cxnId="{3966294A-A211-4887-B23A-5BA0B3DE4665}">
      <dgm:prSet/>
      <dgm:spPr/>
      <dgm:t>
        <a:bodyPr/>
        <a:lstStyle/>
        <a:p>
          <a:endParaRPr lang="en-US"/>
        </a:p>
      </dgm:t>
    </dgm:pt>
    <dgm:pt modelId="{7F0C902C-2B71-4F2E-A004-50734ECFEAD8}" type="sibTrans" cxnId="{3966294A-A211-4887-B23A-5BA0B3DE4665}">
      <dgm:prSet/>
      <dgm:spPr/>
      <dgm:t>
        <a:bodyPr/>
        <a:lstStyle/>
        <a:p>
          <a:endParaRPr lang="en-US"/>
        </a:p>
      </dgm:t>
    </dgm:pt>
    <dgm:pt modelId="{DFD034F2-4583-4F3E-B52A-177EBF650FA6}">
      <dgm:prSet/>
      <dgm:spPr/>
      <dgm:t>
        <a:bodyPr/>
        <a:lstStyle/>
        <a:p>
          <a:r>
            <a:rPr lang="en-US" dirty="0"/>
            <a:t>Implementing </a:t>
          </a:r>
          <a:r>
            <a:rPr lang="en-US" dirty="0" err="1"/>
            <a:t>peclet</a:t>
          </a:r>
          <a:r>
            <a:rPr lang="en-US" dirty="0"/>
            <a:t> number calculation to understand flow pattern with respect to flow rate(Tentative).</a:t>
          </a:r>
        </a:p>
      </dgm:t>
    </dgm:pt>
    <dgm:pt modelId="{CD9E92BC-E814-49FE-9038-4DEE5194C046}" type="parTrans" cxnId="{13B2A241-4B6C-4119-A4DD-B0796B80CAD1}">
      <dgm:prSet/>
      <dgm:spPr/>
      <dgm:t>
        <a:bodyPr/>
        <a:lstStyle/>
        <a:p>
          <a:endParaRPr lang="en-US"/>
        </a:p>
      </dgm:t>
    </dgm:pt>
    <dgm:pt modelId="{1A812FBB-EABA-4C16-8D38-6227D1EA1117}" type="sibTrans" cxnId="{13B2A241-4B6C-4119-A4DD-B0796B80CAD1}">
      <dgm:prSet/>
      <dgm:spPr/>
      <dgm:t>
        <a:bodyPr/>
        <a:lstStyle/>
        <a:p>
          <a:endParaRPr lang="en-US"/>
        </a:p>
      </dgm:t>
    </dgm:pt>
    <dgm:pt modelId="{71BEC876-A220-4506-A147-B5D0E7E3119D}" type="pres">
      <dgm:prSet presAssocID="{FF6497C1-B4C4-4D13-B468-9B5271433F8A}" presName="vert0" presStyleCnt="0">
        <dgm:presLayoutVars>
          <dgm:dir/>
          <dgm:animOne val="branch"/>
          <dgm:animLvl val="lvl"/>
        </dgm:presLayoutVars>
      </dgm:prSet>
      <dgm:spPr/>
    </dgm:pt>
    <dgm:pt modelId="{B8E3F527-3B26-412B-9879-72025C908700}" type="pres">
      <dgm:prSet presAssocID="{10A4E2AE-DFE0-4F42-8C0F-ED103084668E}" presName="thickLine" presStyleLbl="alignNode1" presStyleIdx="0" presStyleCnt="4"/>
      <dgm:spPr/>
    </dgm:pt>
    <dgm:pt modelId="{96A88FEA-0453-4E44-BEE7-24F1B9E63F87}" type="pres">
      <dgm:prSet presAssocID="{10A4E2AE-DFE0-4F42-8C0F-ED103084668E}" presName="horz1" presStyleCnt="0"/>
      <dgm:spPr/>
    </dgm:pt>
    <dgm:pt modelId="{02B91E2C-91C1-4E83-ABB2-B90068E07357}" type="pres">
      <dgm:prSet presAssocID="{10A4E2AE-DFE0-4F42-8C0F-ED103084668E}" presName="tx1" presStyleLbl="revTx" presStyleIdx="0" presStyleCnt="4"/>
      <dgm:spPr/>
    </dgm:pt>
    <dgm:pt modelId="{272DC6F5-B5C1-4D78-AA38-34CFD75F06EC}" type="pres">
      <dgm:prSet presAssocID="{10A4E2AE-DFE0-4F42-8C0F-ED103084668E}" presName="vert1" presStyleCnt="0"/>
      <dgm:spPr/>
    </dgm:pt>
    <dgm:pt modelId="{497846AE-7943-444E-A2C9-489C22B271D3}" type="pres">
      <dgm:prSet presAssocID="{870B641D-A850-4080-8189-69D3540C6ADB}" presName="thickLine" presStyleLbl="alignNode1" presStyleIdx="1" presStyleCnt="4"/>
      <dgm:spPr/>
    </dgm:pt>
    <dgm:pt modelId="{4519402E-E86F-4FFA-9667-5A2AC8C24D34}" type="pres">
      <dgm:prSet presAssocID="{870B641D-A850-4080-8189-69D3540C6ADB}" presName="horz1" presStyleCnt="0"/>
      <dgm:spPr/>
    </dgm:pt>
    <dgm:pt modelId="{277B10A2-609E-486B-AC82-5FC5C1B1AF14}" type="pres">
      <dgm:prSet presAssocID="{870B641D-A850-4080-8189-69D3540C6ADB}" presName="tx1" presStyleLbl="revTx" presStyleIdx="1" presStyleCnt="4"/>
      <dgm:spPr/>
    </dgm:pt>
    <dgm:pt modelId="{CE7B657E-672F-4AB4-A096-2AE7F148A11E}" type="pres">
      <dgm:prSet presAssocID="{870B641D-A850-4080-8189-69D3540C6ADB}" presName="vert1" presStyleCnt="0"/>
      <dgm:spPr/>
    </dgm:pt>
    <dgm:pt modelId="{34D21A2C-B98F-41AB-940E-9D783CAC6B3A}" type="pres">
      <dgm:prSet presAssocID="{F73B70A2-BEDA-417C-9D44-C2B716CED24B}" presName="thickLine" presStyleLbl="alignNode1" presStyleIdx="2" presStyleCnt="4"/>
      <dgm:spPr/>
    </dgm:pt>
    <dgm:pt modelId="{1BA3695B-64C1-4D99-86C5-2CBB03B37BD6}" type="pres">
      <dgm:prSet presAssocID="{F73B70A2-BEDA-417C-9D44-C2B716CED24B}" presName="horz1" presStyleCnt="0"/>
      <dgm:spPr/>
    </dgm:pt>
    <dgm:pt modelId="{49CAB611-999C-4A22-85B3-787D61C7D90F}" type="pres">
      <dgm:prSet presAssocID="{F73B70A2-BEDA-417C-9D44-C2B716CED24B}" presName="tx1" presStyleLbl="revTx" presStyleIdx="2" presStyleCnt="4"/>
      <dgm:spPr/>
    </dgm:pt>
    <dgm:pt modelId="{0277A6B4-5F2F-4EE9-B678-D94CE77B15CC}" type="pres">
      <dgm:prSet presAssocID="{F73B70A2-BEDA-417C-9D44-C2B716CED24B}" presName="vert1" presStyleCnt="0"/>
      <dgm:spPr/>
    </dgm:pt>
    <dgm:pt modelId="{770A5C86-4BE6-4072-8D7D-7F2338761EC0}" type="pres">
      <dgm:prSet presAssocID="{DFD034F2-4583-4F3E-B52A-177EBF650FA6}" presName="thickLine" presStyleLbl="alignNode1" presStyleIdx="3" presStyleCnt="4"/>
      <dgm:spPr/>
    </dgm:pt>
    <dgm:pt modelId="{D7FA2F40-79A6-48B0-B22E-E0EFD0FE1E15}" type="pres">
      <dgm:prSet presAssocID="{DFD034F2-4583-4F3E-B52A-177EBF650FA6}" presName="horz1" presStyleCnt="0"/>
      <dgm:spPr/>
    </dgm:pt>
    <dgm:pt modelId="{13C2642C-07DB-4183-9FA8-50224B2D9FAC}" type="pres">
      <dgm:prSet presAssocID="{DFD034F2-4583-4F3E-B52A-177EBF650FA6}" presName="tx1" presStyleLbl="revTx" presStyleIdx="3" presStyleCnt="4"/>
      <dgm:spPr/>
    </dgm:pt>
    <dgm:pt modelId="{39B35263-C271-4B08-80C0-3A31CB70B4D9}" type="pres">
      <dgm:prSet presAssocID="{DFD034F2-4583-4F3E-B52A-177EBF650FA6}" presName="vert1" presStyleCnt="0"/>
      <dgm:spPr/>
    </dgm:pt>
  </dgm:ptLst>
  <dgm:cxnLst>
    <dgm:cxn modelId="{13B2A241-4B6C-4119-A4DD-B0796B80CAD1}" srcId="{FF6497C1-B4C4-4D13-B468-9B5271433F8A}" destId="{DFD034F2-4583-4F3E-B52A-177EBF650FA6}" srcOrd="3" destOrd="0" parTransId="{CD9E92BC-E814-49FE-9038-4DEE5194C046}" sibTransId="{1A812FBB-EABA-4C16-8D38-6227D1EA1117}"/>
    <dgm:cxn modelId="{2D4DFA64-C207-4FEB-8B8E-B06B3A182574}" type="presOf" srcId="{FF6497C1-B4C4-4D13-B468-9B5271433F8A}" destId="{71BEC876-A220-4506-A147-B5D0E7E3119D}" srcOrd="0" destOrd="0" presId="urn:microsoft.com/office/officeart/2008/layout/LinedList"/>
    <dgm:cxn modelId="{10851266-59F8-45E0-A0A8-C9739F8559FB}" srcId="{FF6497C1-B4C4-4D13-B468-9B5271433F8A}" destId="{870B641D-A850-4080-8189-69D3540C6ADB}" srcOrd="1" destOrd="0" parTransId="{0622A24F-C8E8-4057-9BBD-15E7BAE89D05}" sibTransId="{2ECDD70D-0F19-49F6-9030-31ED9A1D18CD}"/>
    <dgm:cxn modelId="{3966294A-A211-4887-B23A-5BA0B3DE4665}" srcId="{FF6497C1-B4C4-4D13-B468-9B5271433F8A}" destId="{F73B70A2-BEDA-417C-9D44-C2B716CED24B}" srcOrd="2" destOrd="0" parTransId="{CA35B256-A92E-4EEE-BE4D-95EBB3096528}" sibTransId="{7F0C902C-2B71-4F2E-A004-50734ECFEAD8}"/>
    <dgm:cxn modelId="{40823D75-9FC8-4F2F-A633-20A09704FA0E}" srcId="{FF6497C1-B4C4-4D13-B468-9B5271433F8A}" destId="{10A4E2AE-DFE0-4F42-8C0F-ED103084668E}" srcOrd="0" destOrd="0" parTransId="{01BBB17D-A455-46E7-BE90-C4D57000837E}" sibTransId="{C65E764F-6DF0-4AFB-A7EB-EA857A99DF34}"/>
    <dgm:cxn modelId="{655A91A5-D960-438C-883C-F661F60AAB1F}" type="presOf" srcId="{10A4E2AE-DFE0-4F42-8C0F-ED103084668E}" destId="{02B91E2C-91C1-4E83-ABB2-B90068E07357}" srcOrd="0" destOrd="0" presId="urn:microsoft.com/office/officeart/2008/layout/LinedList"/>
    <dgm:cxn modelId="{00D2E5D6-5862-4D4B-8BED-F11E5DB35B92}" type="presOf" srcId="{F73B70A2-BEDA-417C-9D44-C2B716CED24B}" destId="{49CAB611-999C-4A22-85B3-787D61C7D90F}" srcOrd="0" destOrd="0" presId="urn:microsoft.com/office/officeart/2008/layout/LinedList"/>
    <dgm:cxn modelId="{42B0ABEB-C728-4553-8C9F-537CED3355BA}" type="presOf" srcId="{870B641D-A850-4080-8189-69D3540C6ADB}" destId="{277B10A2-609E-486B-AC82-5FC5C1B1AF14}" srcOrd="0" destOrd="0" presId="urn:microsoft.com/office/officeart/2008/layout/LinedList"/>
    <dgm:cxn modelId="{66D5D3F2-2ECA-4434-9D7C-81E57817D073}" type="presOf" srcId="{DFD034F2-4583-4F3E-B52A-177EBF650FA6}" destId="{13C2642C-07DB-4183-9FA8-50224B2D9FAC}" srcOrd="0" destOrd="0" presId="urn:microsoft.com/office/officeart/2008/layout/LinedList"/>
    <dgm:cxn modelId="{BF98B9DA-D38B-49C0-9BC0-E4C111A4AF26}" type="presParOf" srcId="{71BEC876-A220-4506-A147-B5D0E7E3119D}" destId="{B8E3F527-3B26-412B-9879-72025C908700}" srcOrd="0" destOrd="0" presId="urn:microsoft.com/office/officeart/2008/layout/LinedList"/>
    <dgm:cxn modelId="{62313BCD-436C-4F68-B197-35F0E3CA7564}" type="presParOf" srcId="{71BEC876-A220-4506-A147-B5D0E7E3119D}" destId="{96A88FEA-0453-4E44-BEE7-24F1B9E63F87}" srcOrd="1" destOrd="0" presId="urn:microsoft.com/office/officeart/2008/layout/LinedList"/>
    <dgm:cxn modelId="{91ED4AA0-A426-405B-B7FC-607CA77F3D28}" type="presParOf" srcId="{96A88FEA-0453-4E44-BEE7-24F1B9E63F87}" destId="{02B91E2C-91C1-4E83-ABB2-B90068E07357}" srcOrd="0" destOrd="0" presId="urn:microsoft.com/office/officeart/2008/layout/LinedList"/>
    <dgm:cxn modelId="{0689714F-4AF8-4511-BCCF-DCF4FC52DF43}" type="presParOf" srcId="{96A88FEA-0453-4E44-BEE7-24F1B9E63F87}" destId="{272DC6F5-B5C1-4D78-AA38-34CFD75F06EC}" srcOrd="1" destOrd="0" presId="urn:microsoft.com/office/officeart/2008/layout/LinedList"/>
    <dgm:cxn modelId="{7005879D-187E-4669-98ED-7C8A3D75BFE6}" type="presParOf" srcId="{71BEC876-A220-4506-A147-B5D0E7E3119D}" destId="{497846AE-7943-444E-A2C9-489C22B271D3}" srcOrd="2" destOrd="0" presId="urn:microsoft.com/office/officeart/2008/layout/LinedList"/>
    <dgm:cxn modelId="{2F953485-3858-4172-AE92-545A6AA34E5E}" type="presParOf" srcId="{71BEC876-A220-4506-A147-B5D0E7E3119D}" destId="{4519402E-E86F-4FFA-9667-5A2AC8C24D34}" srcOrd="3" destOrd="0" presId="urn:microsoft.com/office/officeart/2008/layout/LinedList"/>
    <dgm:cxn modelId="{A956289A-AF16-4CAE-8539-661EE85B0C7F}" type="presParOf" srcId="{4519402E-E86F-4FFA-9667-5A2AC8C24D34}" destId="{277B10A2-609E-486B-AC82-5FC5C1B1AF14}" srcOrd="0" destOrd="0" presId="urn:microsoft.com/office/officeart/2008/layout/LinedList"/>
    <dgm:cxn modelId="{BBBEB8D4-B73F-48DB-9F28-949FA3B14C37}" type="presParOf" srcId="{4519402E-E86F-4FFA-9667-5A2AC8C24D34}" destId="{CE7B657E-672F-4AB4-A096-2AE7F148A11E}" srcOrd="1" destOrd="0" presId="urn:microsoft.com/office/officeart/2008/layout/LinedList"/>
    <dgm:cxn modelId="{5750C3F7-69C5-4A75-8823-AA4F68A4C9E1}" type="presParOf" srcId="{71BEC876-A220-4506-A147-B5D0E7E3119D}" destId="{34D21A2C-B98F-41AB-940E-9D783CAC6B3A}" srcOrd="4" destOrd="0" presId="urn:microsoft.com/office/officeart/2008/layout/LinedList"/>
    <dgm:cxn modelId="{D21C72EA-9B5E-464E-BDBD-6973D556936A}" type="presParOf" srcId="{71BEC876-A220-4506-A147-B5D0E7E3119D}" destId="{1BA3695B-64C1-4D99-86C5-2CBB03B37BD6}" srcOrd="5" destOrd="0" presId="urn:microsoft.com/office/officeart/2008/layout/LinedList"/>
    <dgm:cxn modelId="{32B1E9D4-C031-4CB7-8EC1-1AD8CDB6F9B7}" type="presParOf" srcId="{1BA3695B-64C1-4D99-86C5-2CBB03B37BD6}" destId="{49CAB611-999C-4A22-85B3-787D61C7D90F}" srcOrd="0" destOrd="0" presId="urn:microsoft.com/office/officeart/2008/layout/LinedList"/>
    <dgm:cxn modelId="{A26E7F33-65D5-4C1E-A005-BCBB971B7F77}" type="presParOf" srcId="{1BA3695B-64C1-4D99-86C5-2CBB03B37BD6}" destId="{0277A6B4-5F2F-4EE9-B678-D94CE77B15CC}" srcOrd="1" destOrd="0" presId="urn:microsoft.com/office/officeart/2008/layout/LinedList"/>
    <dgm:cxn modelId="{9849F3BB-8AC7-479D-99FB-4C65B535FB44}" type="presParOf" srcId="{71BEC876-A220-4506-A147-B5D0E7E3119D}" destId="{770A5C86-4BE6-4072-8D7D-7F2338761EC0}" srcOrd="6" destOrd="0" presId="urn:microsoft.com/office/officeart/2008/layout/LinedList"/>
    <dgm:cxn modelId="{9D52B98C-3C47-46E4-A435-F4F3043C167E}" type="presParOf" srcId="{71BEC876-A220-4506-A147-B5D0E7E3119D}" destId="{D7FA2F40-79A6-48B0-B22E-E0EFD0FE1E15}" srcOrd="7" destOrd="0" presId="urn:microsoft.com/office/officeart/2008/layout/LinedList"/>
    <dgm:cxn modelId="{36C9EB3B-3971-42FB-90AE-93E69FB88426}" type="presParOf" srcId="{D7FA2F40-79A6-48B0-B22E-E0EFD0FE1E15}" destId="{13C2642C-07DB-4183-9FA8-50224B2D9FAC}" srcOrd="0" destOrd="0" presId="urn:microsoft.com/office/officeart/2008/layout/LinedList"/>
    <dgm:cxn modelId="{955B0A38-1E2A-4225-9829-EF64C5E09CD1}" type="presParOf" srcId="{D7FA2F40-79A6-48B0-B22E-E0EFD0FE1E15}" destId="{39B35263-C271-4B08-80C0-3A31CB70B4D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B077A3-4D84-4F14-89F4-A120AA971A07}">
      <dsp:nvSpPr>
        <dsp:cNvPr id="0" name=""/>
        <dsp:cNvSpPr/>
      </dsp:nvSpPr>
      <dsp:spPr>
        <a:xfrm>
          <a:off x="0" y="1664"/>
          <a:ext cx="483042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AB2368-A0B8-42CF-843A-87286F66412B}">
      <dsp:nvSpPr>
        <dsp:cNvPr id="0" name=""/>
        <dsp:cNvSpPr/>
      </dsp:nvSpPr>
      <dsp:spPr>
        <a:xfrm>
          <a:off x="0" y="1664"/>
          <a:ext cx="4830427" cy="691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Literature review</a:t>
          </a:r>
        </a:p>
      </dsp:txBody>
      <dsp:txXfrm>
        <a:off x="0" y="1664"/>
        <a:ext cx="4830427" cy="691394"/>
      </dsp:txXfrm>
    </dsp:sp>
    <dsp:sp modelId="{44E2484D-BF48-44A5-891C-44EDFCD2FE90}">
      <dsp:nvSpPr>
        <dsp:cNvPr id="0" name=""/>
        <dsp:cNvSpPr/>
      </dsp:nvSpPr>
      <dsp:spPr>
        <a:xfrm>
          <a:off x="0" y="693059"/>
          <a:ext cx="483042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ADCA99-37A7-45E4-A6F3-7F601C318D23}">
      <dsp:nvSpPr>
        <dsp:cNvPr id="0" name=""/>
        <dsp:cNvSpPr/>
      </dsp:nvSpPr>
      <dsp:spPr>
        <a:xfrm>
          <a:off x="0" y="693059"/>
          <a:ext cx="4830427" cy="660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Building CAD geometry</a:t>
          </a:r>
        </a:p>
      </dsp:txBody>
      <dsp:txXfrm>
        <a:off x="0" y="693059"/>
        <a:ext cx="4830427" cy="660268"/>
      </dsp:txXfrm>
    </dsp:sp>
    <dsp:sp modelId="{94E695AB-2D05-47FA-AE07-CE4D69EE4C86}">
      <dsp:nvSpPr>
        <dsp:cNvPr id="0" name=""/>
        <dsp:cNvSpPr/>
      </dsp:nvSpPr>
      <dsp:spPr>
        <a:xfrm>
          <a:off x="0" y="1353328"/>
          <a:ext cx="4830427"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6B260E-1054-413D-AECA-AE865D0A0CEC}">
      <dsp:nvSpPr>
        <dsp:cNvPr id="0" name=""/>
        <dsp:cNvSpPr/>
      </dsp:nvSpPr>
      <dsp:spPr>
        <a:xfrm>
          <a:off x="0" y="1353328"/>
          <a:ext cx="4825709" cy="832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Developing mixing design for external turbulence</a:t>
          </a:r>
        </a:p>
      </dsp:txBody>
      <dsp:txXfrm>
        <a:off x="0" y="1353328"/>
        <a:ext cx="4825709" cy="832340"/>
      </dsp:txXfrm>
    </dsp:sp>
    <dsp:sp modelId="{4002028A-8ADF-4911-9FEA-881BD66A1DEA}">
      <dsp:nvSpPr>
        <dsp:cNvPr id="0" name=""/>
        <dsp:cNvSpPr/>
      </dsp:nvSpPr>
      <dsp:spPr>
        <a:xfrm>
          <a:off x="0" y="2185668"/>
          <a:ext cx="4830427"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473ED0-1749-4B73-9D35-4A187D63BD82}">
      <dsp:nvSpPr>
        <dsp:cNvPr id="0" name=""/>
        <dsp:cNvSpPr/>
      </dsp:nvSpPr>
      <dsp:spPr>
        <a:xfrm>
          <a:off x="0" y="2185668"/>
          <a:ext cx="4830427" cy="74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Performing parametric tests and result  visualization</a:t>
          </a:r>
        </a:p>
      </dsp:txBody>
      <dsp:txXfrm>
        <a:off x="0" y="2185668"/>
        <a:ext cx="4830427" cy="741974"/>
      </dsp:txXfrm>
    </dsp:sp>
    <dsp:sp modelId="{49C7663A-C3DB-4E3F-BFC9-0CC28C2439C6}">
      <dsp:nvSpPr>
        <dsp:cNvPr id="0" name=""/>
        <dsp:cNvSpPr/>
      </dsp:nvSpPr>
      <dsp:spPr>
        <a:xfrm>
          <a:off x="0" y="2927643"/>
          <a:ext cx="4830427"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16F8C4-C8F2-457B-B277-AEC7420C396A}">
      <dsp:nvSpPr>
        <dsp:cNvPr id="0" name=""/>
        <dsp:cNvSpPr/>
      </dsp:nvSpPr>
      <dsp:spPr>
        <a:xfrm>
          <a:off x="0" y="2927643"/>
          <a:ext cx="4830427" cy="739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kern="1200" dirty="0"/>
            <a:t>Testing of modified geometrical model to analyze the performance </a:t>
          </a:r>
        </a:p>
      </dsp:txBody>
      <dsp:txXfrm>
        <a:off x="0" y="2927643"/>
        <a:ext cx="4830427" cy="739645"/>
      </dsp:txXfrm>
    </dsp:sp>
    <dsp:sp modelId="{F0AFD318-77A7-46E1-AB1D-5E5C13836D34}">
      <dsp:nvSpPr>
        <dsp:cNvPr id="0" name=""/>
        <dsp:cNvSpPr/>
      </dsp:nvSpPr>
      <dsp:spPr>
        <a:xfrm>
          <a:off x="0" y="3667288"/>
          <a:ext cx="483042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540C8F-1262-4436-9428-82922CFF0F5D}">
      <dsp:nvSpPr>
        <dsp:cNvPr id="0" name=""/>
        <dsp:cNvSpPr/>
      </dsp:nvSpPr>
      <dsp:spPr>
        <a:xfrm>
          <a:off x="0" y="3667288"/>
          <a:ext cx="4830427" cy="74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Suggest new potential designs to improve performance.</a:t>
          </a:r>
        </a:p>
      </dsp:txBody>
      <dsp:txXfrm>
        <a:off x="0" y="3667288"/>
        <a:ext cx="4830427" cy="7419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8FD46-23A1-4F1E-8723-C97E2FD8833C}">
      <dsp:nvSpPr>
        <dsp:cNvPr id="0" name=""/>
        <dsp:cNvSpPr/>
      </dsp:nvSpPr>
      <dsp:spPr>
        <a:xfrm>
          <a:off x="0" y="379800"/>
          <a:ext cx="6154008" cy="818999"/>
        </a:xfrm>
        <a:prstGeom prst="roundRect">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IN" sz="3500" kern="1200" dirty="0"/>
            <a:t>Clinical diagnostics</a:t>
          </a:r>
          <a:endParaRPr lang="en-US" sz="3500" kern="1200" dirty="0"/>
        </a:p>
      </dsp:txBody>
      <dsp:txXfrm>
        <a:off x="39980" y="419780"/>
        <a:ext cx="6074048" cy="739039"/>
      </dsp:txXfrm>
    </dsp:sp>
    <dsp:sp modelId="{EFC02B93-7974-4C5C-9D07-D6A5F82F5BA3}">
      <dsp:nvSpPr>
        <dsp:cNvPr id="0" name=""/>
        <dsp:cNvSpPr/>
      </dsp:nvSpPr>
      <dsp:spPr>
        <a:xfrm>
          <a:off x="0" y="1299600"/>
          <a:ext cx="6154008" cy="818999"/>
        </a:xfrm>
        <a:prstGeom prst="roundRect">
          <a:avLst/>
        </a:prstGeom>
        <a:gradFill rotWithShape="0">
          <a:gsLst>
            <a:gs pos="0">
              <a:schemeClr val="accent2">
                <a:hueOff val="-2587972"/>
                <a:satOff val="11465"/>
                <a:lumOff val="-4216"/>
                <a:alphaOff val="0"/>
                <a:tint val="97000"/>
                <a:satMod val="100000"/>
                <a:lumMod val="102000"/>
              </a:schemeClr>
            </a:gs>
            <a:gs pos="50000">
              <a:schemeClr val="accent2">
                <a:hueOff val="-2587972"/>
                <a:satOff val="11465"/>
                <a:lumOff val="-4216"/>
                <a:alphaOff val="0"/>
                <a:shade val="100000"/>
                <a:satMod val="103000"/>
                <a:lumMod val="100000"/>
              </a:schemeClr>
            </a:gs>
            <a:gs pos="100000">
              <a:schemeClr val="accent2">
                <a:hueOff val="-2587972"/>
                <a:satOff val="11465"/>
                <a:lumOff val="-4216"/>
                <a:alphaOff val="0"/>
                <a:shade val="93000"/>
                <a:satMod val="11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IN" sz="3500" kern="1200" dirty="0"/>
            <a:t>Food analysis</a:t>
          </a:r>
          <a:endParaRPr lang="en-US" sz="3500" kern="1200" dirty="0"/>
        </a:p>
      </dsp:txBody>
      <dsp:txXfrm>
        <a:off x="39980" y="1339580"/>
        <a:ext cx="6074048" cy="739039"/>
      </dsp:txXfrm>
    </dsp:sp>
    <dsp:sp modelId="{438D3AD3-4B9C-42B1-AA4D-3D3933A3C775}">
      <dsp:nvSpPr>
        <dsp:cNvPr id="0" name=""/>
        <dsp:cNvSpPr/>
      </dsp:nvSpPr>
      <dsp:spPr>
        <a:xfrm>
          <a:off x="0" y="2219400"/>
          <a:ext cx="6154008" cy="818999"/>
        </a:xfrm>
        <a:prstGeom prst="roundRect">
          <a:avLst/>
        </a:prstGeom>
        <a:gradFill rotWithShape="0">
          <a:gsLst>
            <a:gs pos="0">
              <a:schemeClr val="accent2">
                <a:hueOff val="-5175944"/>
                <a:satOff val="22930"/>
                <a:lumOff val="-8432"/>
                <a:alphaOff val="0"/>
                <a:tint val="97000"/>
                <a:satMod val="100000"/>
                <a:lumMod val="102000"/>
              </a:schemeClr>
            </a:gs>
            <a:gs pos="50000">
              <a:schemeClr val="accent2">
                <a:hueOff val="-5175944"/>
                <a:satOff val="22930"/>
                <a:lumOff val="-8432"/>
                <a:alphaOff val="0"/>
                <a:shade val="100000"/>
                <a:satMod val="103000"/>
                <a:lumMod val="100000"/>
              </a:schemeClr>
            </a:gs>
            <a:gs pos="100000">
              <a:schemeClr val="accent2">
                <a:hueOff val="-5175944"/>
                <a:satOff val="22930"/>
                <a:lumOff val="-8432"/>
                <a:alphaOff val="0"/>
                <a:shade val="93000"/>
                <a:satMod val="11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IN" sz="3500" kern="1200" dirty="0"/>
            <a:t>Detecting pathogenic bacteria</a:t>
          </a:r>
          <a:endParaRPr lang="en-US" sz="3500" kern="1200" dirty="0"/>
        </a:p>
      </dsp:txBody>
      <dsp:txXfrm>
        <a:off x="39980" y="2259380"/>
        <a:ext cx="6074048" cy="739039"/>
      </dsp:txXfrm>
    </dsp:sp>
    <dsp:sp modelId="{8FC57EB4-793B-48A0-9834-5DF00E1E093D}">
      <dsp:nvSpPr>
        <dsp:cNvPr id="0" name=""/>
        <dsp:cNvSpPr/>
      </dsp:nvSpPr>
      <dsp:spPr>
        <a:xfrm>
          <a:off x="0" y="3139200"/>
          <a:ext cx="6154008" cy="818999"/>
        </a:xfrm>
        <a:prstGeom prst="roundRect">
          <a:avLst/>
        </a:prstGeom>
        <a:gradFill rotWithShape="0">
          <a:gsLst>
            <a:gs pos="0">
              <a:schemeClr val="accent2">
                <a:hueOff val="-7763915"/>
                <a:satOff val="34394"/>
                <a:lumOff val="-12648"/>
                <a:alphaOff val="0"/>
                <a:tint val="97000"/>
                <a:satMod val="100000"/>
                <a:lumMod val="102000"/>
              </a:schemeClr>
            </a:gs>
            <a:gs pos="50000">
              <a:schemeClr val="accent2">
                <a:hueOff val="-7763915"/>
                <a:satOff val="34394"/>
                <a:lumOff val="-12648"/>
                <a:alphaOff val="0"/>
                <a:shade val="100000"/>
                <a:satMod val="103000"/>
                <a:lumMod val="100000"/>
              </a:schemeClr>
            </a:gs>
            <a:gs pos="100000">
              <a:schemeClr val="accent2">
                <a:hueOff val="-7763915"/>
                <a:satOff val="34394"/>
                <a:lumOff val="-12648"/>
                <a:alphaOff val="0"/>
                <a:shade val="93000"/>
                <a:satMod val="11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IN" sz="3500" kern="1200" dirty="0"/>
            <a:t>Detection of explosives</a:t>
          </a:r>
          <a:endParaRPr lang="en-US" sz="3500" kern="1200" dirty="0"/>
        </a:p>
      </dsp:txBody>
      <dsp:txXfrm>
        <a:off x="39980" y="3179180"/>
        <a:ext cx="6074048" cy="739039"/>
      </dsp:txXfrm>
    </dsp:sp>
    <dsp:sp modelId="{E05DDED2-5840-4FA4-B745-AC3EF0BA08AE}">
      <dsp:nvSpPr>
        <dsp:cNvPr id="0" name=""/>
        <dsp:cNvSpPr/>
      </dsp:nvSpPr>
      <dsp:spPr>
        <a:xfrm>
          <a:off x="0" y="4059000"/>
          <a:ext cx="6154008" cy="818999"/>
        </a:xfrm>
        <a:prstGeom prst="roundRect">
          <a:avLst/>
        </a:prstGeom>
        <a:gradFill rotWithShape="0">
          <a:gsLst>
            <a:gs pos="0">
              <a:schemeClr val="accent2">
                <a:hueOff val="-10351888"/>
                <a:satOff val="45859"/>
                <a:lumOff val="-16864"/>
                <a:alphaOff val="0"/>
                <a:tint val="97000"/>
                <a:satMod val="100000"/>
                <a:lumMod val="102000"/>
              </a:schemeClr>
            </a:gs>
            <a:gs pos="50000">
              <a:schemeClr val="accent2">
                <a:hueOff val="-10351888"/>
                <a:satOff val="45859"/>
                <a:lumOff val="-16864"/>
                <a:alphaOff val="0"/>
                <a:shade val="100000"/>
                <a:satMod val="103000"/>
                <a:lumMod val="100000"/>
              </a:schemeClr>
            </a:gs>
            <a:gs pos="100000">
              <a:schemeClr val="accent2">
                <a:hueOff val="-10351888"/>
                <a:satOff val="45859"/>
                <a:lumOff val="-16864"/>
                <a:alphaOff val="0"/>
                <a:shade val="93000"/>
                <a:satMod val="11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IN" sz="3500" b="0" i="0" kern="1200" dirty="0"/>
            <a:t>Materials characterization study</a:t>
          </a:r>
          <a:endParaRPr lang="en-IN" sz="3500" kern="1200" dirty="0"/>
        </a:p>
      </dsp:txBody>
      <dsp:txXfrm>
        <a:off x="39980" y="4098980"/>
        <a:ext cx="6074048" cy="7390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9402F7-D48C-4519-86A5-1EEBEAC2E421}">
      <dsp:nvSpPr>
        <dsp:cNvPr id="0" name=""/>
        <dsp:cNvSpPr/>
      </dsp:nvSpPr>
      <dsp:spPr>
        <a:xfrm>
          <a:off x="1796143" y="688564"/>
          <a:ext cx="833040" cy="289154"/>
        </a:xfrm>
        <a:custGeom>
          <a:avLst/>
          <a:gdLst/>
          <a:ahLst/>
          <a:cxnLst/>
          <a:rect l="0" t="0" r="0" b="0"/>
          <a:pathLst>
            <a:path>
              <a:moveTo>
                <a:pt x="0" y="0"/>
              </a:moveTo>
              <a:lnTo>
                <a:pt x="0" y="144577"/>
              </a:lnTo>
              <a:lnTo>
                <a:pt x="833040" y="144577"/>
              </a:lnTo>
              <a:lnTo>
                <a:pt x="833040" y="289154"/>
              </a:lnTo>
            </a:path>
          </a:pathLst>
        </a:custGeom>
        <a:noFill/>
        <a:ln w="127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1C9D9A-5EB3-4C85-89F5-346C7CAEA8F9}">
      <dsp:nvSpPr>
        <dsp:cNvPr id="0" name=""/>
        <dsp:cNvSpPr/>
      </dsp:nvSpPr>
      <dsp:spPr>
        <a:xfrm>
          <a:off x="963103" y="688564"/>
          <a:ext cx="833040" cy="289154"/>
        </a:xfrm>
        <a:custGeom>
          <a:avLst/>
          <a:gdLst/>
          <a:ahLst/>
          <a:cxnLst/>
          <a:rect l="0" t="0" r="0" b="0"/>
          <a:pathLst>
            <a:path>
              <a:moveTo>
                <a:pt x="833040" y="0"/>
              </a:moveTo>
              <a:lnTo>
                <a:pt x="833040" y="144577"/>
              </a:lnTo>
              <a:lnTo>
                <a:pt x="0" y="144577"/>
              </a:lnTo>
              <a:lnTo>
                <a:pt x="0" y="289154"/>
              </a:lnTo>
            </a:path>
          </a:pathLst>
        </a:custGeom>
        <a:noFill/>
        <a:ln w="127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816C44-F3AB-454D-88A3-4ECC395CF511}">
      <dsp:nvSpPr>
        <dsp:cNvPr id="0" name=""/>
        <dsp:cNvSpPr/>
      </dsp:nvSpPr>
      <dsp:spPr>
        <a:xfrm>
          <a:off x="1107680" y="101"/>
          <a:ext cx="1376926" cy="688463"/>
        </a:xfrm>
        <a:prstGeom prst="rect">
          <a:avLst/>
        </a:prstGeom>
        <a:solidFill>
          <a:schemeClr val="accent2">
            <a:shade val="6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Governing Equations</a:t>
          </a:r>
        </a:p>
      </dsp:txBody>
      <dsp:txXfrm>
        <a:off x="1107680" y="101"/>
        <a:ext cx="1376926" cy="688463"/>
      </dsp:txXfrm>
    </dsp:sp>
    <dsp:sp modelId="{EEDFA48C-D3D5-4953-B277-E091294A6F1B}">
      <dsp:nvSpPr>
        <dsp:cNvPr id="0" name=""/>
        <dsp:cNvSpPr/>
      </dsp:nvSpPr>
      <dsp:spPr>
        <a:xfrm>
          <a:off x="274639" y="977718"/>
          <a:ext cx="1376926" cy="688463"/>
        </a:xfrm>
        <a:prstGeom prst="rect">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Advection Diffusion Equation</a:t>
          </a:r>
        </a:p>
      </dsp:txBody>
      <dsp:txXfrm>
        <a:off x="274639" y="977718"/>
        <a:ext cx="1376926" cy="688463"/>
      </dsp:txXfrm>
    </dsp:sp>
    <dsp:sp modelId="{C1E09C23-A12C-4E57-ADEF-6015C3718E31}">
      <dsp:nvSpPr>
        <dsp:cNvPr id="0" name=""/>
        <dsp:cNvSpPr/>
      </dsp:nvSpPr>
      <dsp:spPr>
        <a:xfrm>
          <a:off x="1940720" y="977718"/>
          <a:ext cx="1376926" cy="688463"/>
        </a:xfrm>
        <a:prstGeom prst="rect">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kern="1200" dirty="0"/>
            <a:t>3D Navier-Stokes Equation</a:t>
          </a:r>
        </a:p>
      </dsp:txBody>
      <dsp:txXfrm>
        <a:off x="1940720" y="977718"/>
        <a:ext cx="1376926" cy="6884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C81D6F-93C4-4DFE-81E5-B61C86E3A2AB}">
      <dsp:nvSpPr>
        <dsp:cNvPr id="0" name=""/>
        <dsp:cNvSpPr/>
      </dsp:nvSpPr>
      <dsp:spPr>
        <a:xfrm>
          <a:off x="3114" y="1620934"/>
          <a:ext cx="1934058" cy="746546"/>
        </a:xfrm>
        <a:prstGeom prst="chevron">
          <a:avLst>
            <a:gd name="adj" fmla="val 40000"/>
          </a:avLst>
        </a:prstGeom>
        <a:solidFill>
          <a:schemeClr val="accent6">
            <a:shade val="8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C7598B-257E-406F-BF12-09185F6772E6}">
      <dsp:nvSpPr>
        <dsp:cNvPr id="0" name=""/>
        <dsp:cNvSpPr/>
      </dsp:nvSpPr>
      <dsp:spPr>
        <a:xfrm>
          <a:off x="506924" y="2123154"/>
          <a:ext cx="1633204" cy="1611278"/>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IN" sz="1600" b="1" kern="1200" dirty="0"/>
            <a:t>Geometrical Modelling</a:t>
          </a:r>
        </a:p>
        <a:p>
          <a:pPr marL="114300" lvl="1" indent="-114300" algn="l" defTabSz="622300">
            <a:lnSpc>
              <a:spcPct val="90000"/>
            </a:lnSpc>
            <a:spcBef>
              <a:spcPct val="0"/>
            </a:spcBef>
            <a:spcAft>
              <a:spcPct val="15000"/>
            </a:spcAft>
            <a:buChar char="•"/>
          </a:pPr>
          <a:r>
            <a:rPr lang="en-IN" sz="1400" kern="1200" dirty="0"/>
            <a:t>Base model</a:t>
          </a:r>
        </a:p>
        <a:p>
          <a:pPr marL="114300" lvl="1" indent="-114300" algn="l" defTabSz="622300">
            <a:lnSpc>
              <a:spcPct val="90000"/>
            </a:lnSpc>
            <a:spcBef>
              <a:spcPct val="0"/>
            </a:spcBef>
            <a:spcAft>
              <a:spcPct val="15000"/>
            </a:spcAft>
            <a:buChar char="•"/>
          </a:pPr>
          <a:r>
            <a:rPr lang="en-IN" sz="1400" kern="1200" dirty="0"/>
            <a:t>Dimensions provided by Hummingbird Scientific</a:t>
          </a:r>
        </a:p>
      </dsp:txBody>
      <dsp:txXfrm>
        <a:off x="554117" y="2170347"/>
        <a:ext cx="1538818" cy="1516892"/>
      </dsp:txXfrm>
    </dsp:sp>
    <dsp:sp modelId="{EC17810F-3D64-4490-89F5-39E847A104CF}">
      <dsp:nvSpPr>
        <dsp:cNvPr id="0" name=""/>
        <dsp:cNvSpPr/>
      </dsp:nvSpPr>
      <dsp:spPr>
        <a:xfrm>
          <a:off x="2212238" y="1620934"/>
          <a:ext cx="1934058" cy="746546"/>
        </a:xfrm>
        <a:prstGeom prst="chevron">
          <a:avLst>
            <a:gd name="adj" fmla="val 40000"/>
          </a:avLst>
        </a:prstGeom>
        <a:solidFill>
          <a:schemeClr val="accent6">
            <a:shade val="80000"/>
            <a:hueOff val="-14391"/>
            <a:satOff val="102"/>
            <a:lumOff val="711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33F78E-ADA2-4329-B05C-FFB74A15041D}">
      <dsp:nvSpPr>
        <dsp:cNvPr id="0" name=""/>
        <dsp:cNvSpPr/>
      </dsp:nvSpPr>
      <dsp:spPr>
        <a:xfrm>
          <a:off x="2484239" y="2063598"/>
          <a:ext cx="2019572" cy="1810569"/>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14391"/>
              <a:satOff val="102"/>
              <a:lumOff val="711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IN" sz="1600" b="1" kern="1200" dirty="0"/>
            <a:t>Physical Model</a:t>
          </a:r>
        </a:p>
        <a:p>
          <a:pPr marL="114300" lvl="1" indent="-114300" algn="l" defTabSz="622300">
            <a:lnSpc>
              <a:spcPct val="90000"/>
            </a:lnSpc>
            <a:spcBef>
              <a:spcPct val="0"/>
            </a:spcBef>
            <a:spcAft>
              <a:spcPct val="15000"/>
            </a:spcAft>
            <a:buChar char="•"/>
          </a:pPr>
          <a:r>
            <a:rPr lang="en-IN" sz="1400" kern="1200" dirty="0"/>
            <a:t>Laminar flow(</a:t>
          </a:r>
          <a:r>
            <a:rPr lang="en-IN" sz="1400" kern="1200" dirty="0" err="1"/>
            <a:t>spf</a:t>
          </a:r>
          <a:r>
            <a:rPr lang="en-IN" sz="1400" kern="1200" dirty="0"/>
            <a:t>) model</a:t>
          </a:r>
        </a:p>
        <a:p>
          <a:pPr marL="114300" lvl="1" indent="-114300" algn="l" defTabSz="622300">
            <a:lnSpc>
              <a:spcPct val="90000"/>
            </a:lnSpc>
            <a:spcBef>
              <a:spcPct val="0"/>
            </a:spcBef>
            <a:spcAft>
              <a:spcPct val="15000"/>
            </a:spcAft>
            <a:buChar char="•"/>
          </a:pPr>
          <a:r>
            <a:rPr lang="en-IN" sz="1400" kern="1200" dirty="0"/>
            <a:t>Transport of diluted species(</a:t>
          </a:r>
          <a:r>
            <a:rPr lang="en-IN" sz="1400" kern="1200" dirty="0" err="1"/>
            <a:t>tds</a:t>
          </a:r>
          <a:r>
            <a:rPr lang="en-IN" sz="1400" kern="1200" dirty="0"/>
            <a:t>) model</a:t>
          </a:r>
        </a:p>
        <a:p>
          <a:pPr marL="114300" lvl="1" indent="-114300" algn="l" defTabSz="622300">
            <a:lnSpc>
              <a:spcPct val="90000"/>
            </a:lnSpc>
            <a:spcBef>
              <a:spcPct val="0"/>
            </a:spcBef>
            <a:spcAft>
              <a:spcPct val="15000"/>
            </a:spcAft>
            <a:buChar char="•"/>
          </a:pPr>
          <a:r>
            <a:rPr lang="en-IN" sz="1400" kern="1200" dirty="0"/>
            <a:t>Reacting flow, Diluted species(rfd1)</a:t>
          </a:r>
        </a:p>
      </dsp:txBody>
      <dsp:txXfrm>
        <a:off x="2537269" y="2116628"/>
        <a:ext cx="1913512" cy="1704509"/>
      </dsp:txXfrm>
    </dsp:sp>
    <dsp:sp modelId="{292F7897-2785-4763-ACD8-E5E7FFDE8E97}">
      <dsp:nvSpPr>
        <dsp:cNvPr id="0" name=""/>
        <dsp:cNvSpPr/>
      </dsp:nvSpPr>
      <dsp:spPr>
        <a:xfrm>
          <a:off x="4614546" y="1620934"/>
          <a:ext cx="1934058" cy="746546"/>
        </a:xfrm>
        <a:prstGeom prst="chevron">
          <a:avLst>
            <a:gd name="adj" fmla="val 40000"/>
          </a:avLst>
        </a:prstGeom>
        <a:solidFill>
          <a:schemeClr val="accent6">
            <a:shade val="80000"/>
            <a:hueOff val="-28781"/>
            <a:satOff val="205"/>
            <a:lumOff val="1423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BEA371-EC1B-4618-99C7-71227198F841}">
      <dsp:nvSpPr>
        <dsp:cNvPr id="0" name=""/>
        <dsp:cNvSpPr/>
      </dsp:nvSpPr>
      <dsp:spPr>
        <a:xfrm>
          <a:off x="5050080" y="2147051"/>
          <a:ext cx="1849784" cy="1620759"/>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28781"/>
              <a:satOff val="205"/>
              <a:lumOff val="1423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IN" sz="1600" b="1" kern="1200" dirty="0"/>
            <a:t>Flow Study</a:t>
          </a:r>
        </a:p>
        <a:p>
          <a:pPr marL="114300" lvl="1" indent="-114300" algn="l" defTabSz="622300">
            <a:lnSpc>
              <a:spcPct val="90000"/>
            </a:lnSpc>
            <a:spcBef>
              <a:spcPct val="0"/>
            </a:spcBef>
            <a:spcAft>
              <a:spcPct val="15000"/>
            </a:spcAft>
            <a:buChar char="•"/>
          </a:pPr>
          <a:r>
            <a:rPr lang="en-IN" sz="1400" kern="1200" dirty="0"/>
            <a:t>Mesh convergence study</a:t>
          </a:r>
        </a:p>
        <a:p>
          <a:pPr marL="114300" lvl="1" indent="-114300" algn="l" defTabSz="622300">
            <a:lnSpc>
              <a:spcPct val="90000"/>
            </a:lnSpc>
            <a:spcBef>
              <a:spcPct val="0"/>
            </a:spcBef>
            <a:spcAft>
              <a:spcPct val="15000"/>
            </a:spcAft>
            <a:buChar char="•"/>
          </a:pPr>
          <a:r>
            <a:rPr lang="en-IN" sz="1400" kern="1200" dirty="0"/>
            <a:t> Stationary study</a:t>
          </a:r>
        </a:p>
        <a:p>
          <a:pPr marL="114300" lvl="1" indent="-114300" algn="l" defTabSz="622300">
            <a:lnSpc>
              <a:spcPct val="90000"/>
            </a:lnSpc>
            <a:spcBef>
              <a:spcPct val="0"/>
            </a:spcBef>
            <a:spcAft>
              <a:spcPct val="15000"/>
            </a:spcAft>
            <a:buChar char="•"/>
          </a:pPr>
          <a:r>
            <a:rPr lang="en-IN" sz="1400" kern="1200" dirty="0"/>
            <a:t>Time-Dependent study</a:t>
          </a:r>
        </a:p>
      </dsp:txBody>
      <dsp:txXfrm>
        <a:off x="5097550" y="2194521"/>
        <a:ext cx="1754844" cy="1525819"/>
      </dsp:txXfrm>
    </dsp:sp>
    <dsp:sp modelId="{31D37010-6BAF-404A-93EB-2424AEB03D69}">
      <dsp:nvSpPr>
        <dsp:cNvPr id="0" name=""/>
        <dsp:cNvSpPr/>
      </dsp:nvSpPr>
      <dsp:spPr>
        <a:xfrm>
          <a:off x="6919370" y="1694961"/>
          <a:ext cx="1934058" cy="746546"/>
        </a:xfrm>
        <a:prstGeom prst="chevron">
          <a:avLst>
            <a:gd name="adj" fmla="val 40000"/>
          </a:avLst>
        </a:prstGeom>
        <a:solidFill>
          <a:schemeClr val="accent6">
            <a:shade val="80000"/>
            <a:hueOff val="-43172"/>
            <a:satOff val="307"/>
            <a:lumOff val="2135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0AC49E-C687-4C39-BCC6-D2EBDA725177}">
      <dsp:nvSpPr>
        <dsp:cNvPr id="0" name=""/>
        <dsp:cNvSpPr/>
      </dsp:nvSpPr>
      <dsp:spPr>
        <a:xfrm>
          <a:off x="7120826" y="2117656"/>
          <a:ext cx="2293199" cy="2218691"/>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43172"/>
              <a:satOff val="307"/>
              <a:lumOff val="2135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IN" sz="1600" b="1" kern="1200" dirty="0"/>
            <a:t>Results Visualization</a:t>
          </a:r>
        </a:p>
        <a:p>
          <a:pPr marL="114300" lvl="1" indent="-114300" algn="l" defTabSz="622300">
            <a:lnSpc>
              <a:spcPct val="90000"/>
            </a:lnSpc>
            <a:spcBef>
              <a:spcPct val="0"/>
            </a:spcBef>
            <a:spcAft>
              <a:spcPct val="15000"/>
            </a:spcAft>
            <a:buChar char="•"/>
          </a:pPr>
          <a:r>
            <a:rPr lang="en-US" sz="1400" kern="1200" dirty="0">
              <a:ea typeface="+mn-lt"/>
              <a:cs typeface="+mn-lt"/>
            </a:rPr>
            <a:t>Velocity profile</a:t>
          </a:r>
          <a:endParaRPr lang="en-IN" sz="1400" kern="1200" dirty="0"/>
        </a:p>
        <a:p>
          <a:pPr marL="114300" lvl="1" indent="-114300" algn="l" defTabSz="622300">
            <a:lnSpc>
              <a:spcPct val="90000"/>
            </a:lnSpc>
            <a:spcBef>
              <a:spcPct val="0"/>
            </a:spcBef>
            <a:spcAft>
              <a:spcPct val="15000"/>
            </a:spcAft>
            <a:buChar char="•"/>
          </a:pPr>
          <a:r>
            <a:rPr lang="en-US" sz="1400" kern="1200" dirty="0">
              <a:ea typeface="+mn-lt"/>
              <a:cs typeface="+mn-lt"/>
            </a:rPr>
            <a:t>Concentration profile </a:t>
          </a:r>
        </a:p>
        <a:p>
          <a:pPr marL="114300" lvl="1" indent="-114300" algn="l" defTabSz="622300">
            <a:lnSpc>
              <a:spcPct val="90000"/>
            </a:lnSpc>
            <a:spcBef>
              <a:spcPct val="0"/>
            </a:spcBef>
            <a:spcAft>
              <a:spcPct val="15000"/>
            </a:spcAft>
            <a:buChar char="•"/>
          </a:pPr>
          <a:r>
            <a:rPr lang="en-US" sz="1400" kern="1200" dirty="0">
              <a:ea typeface="+mn-lt"/>
              <a:cs typeface="+mn-lt"/>
            </a:rPr>
            <a:t>Pressure drop maps</a:t>
          </a:r>
        </a:p>
        <a:p>
          <a:pPr marL="114300" lvl="1" indent="-114300" algn="l" defTabSz="622300">
            <a:lnSpc>
              <a:spcPct val="90000"/>
            </a:lnSpc>
            <a:spcBef>
              <a:spcPct val="0"/>
            </a:spcBef>
            <a:spcAft>
              <a:spcPct val="15000"/>
            </a:spcAft>
            <a:buChar char="•"/>
          </a:pPr>
          <a:r>
            <a:rPr lang="en-US" sz="1400" kern="1200" dirty="0">
              <a:ea typeface="+mn-lt"/>
              <a:cs typeface="+mn-lt"/>
            </a:rPr>
            <a:t>Outlet concentration patterns</a:t>
          </a:r>
        </a:p>
        <a:p>
          <a:pPr marL="114300" lvl="1" indent="-114300" algn="l" defTabSz="622300">
            <a:lnSpc>
              <a:spcPct val="90000"/>
            </a:lnSpc>
            <a:spcBef>
              <a:spcPct val="0"/>
            </a:spcBef>
            <a:spcAft>
              <a:spcPct val="15000"/>
            </a:spcAft>
            <a:buChar char="•"/>
          </a:pPr>
          <a:r>
            <a:rPr lang="en-IN" sz="1400" kern="1200" dirty="0"/>
            <a:t>Mixing index calculation</a:t>
          </a:r>
        </a:p>
        <a:p>
          <a:pPr marL="114300" lvl="1" indent="-114300" algn="l" defTabSz="622300">
            <a:lnSpc>
              <a:spcPct val="90000"/>
            </a:lnSpc>
            <a:spcBef>
              <a:spcPct val="0"/>
            </a:spcBef>
            <a:spcAft>
              <a:spcPct val="15000"/>
            </a:spcAft>
            <a:buChar char="•"/>
          </a:pPr>
          <a:r>
            <a:rPr lang="en-IN" sz="1400" kern="1200" dirty="0"/>
            <a:t>Peclet number determination</a:t>
          </a:r>
          <a:endParaRPr lang="en-US" sz="1400" kern="1200" dirty="0"/>
        </a:p>
      </dsp:txBody>
      <dsp:txXfrm>
        <a:off x="7185809" y="2182639"/>
        <a:ext cx="2163233" cy="20887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E3F527-3B26-412B-9879-72025C908700}">
      <dsp:nvSpPr>
        <dsp:cNvPr id="0" name=""/>
        <dsp:cNvSpPr/>
      </dsp:nvSpPr>
      <dsp:spPr>
        <a:xfrm>
          <a:off x="0" y="0"/>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2B91E2C-91C1-4E83-ABB2-B90068E07357}">
      <dsp:nvSpPr>
        <dsp:cNvPr id="0" name=""/>
        <dsp:cNvSpPr/>
      </dsp:nvSpPr>
      <dsp:spPr>
        <a:xfrm>
          <a:off x="0" y="0"/>
          <a:ext cx="560705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Generate concentration profile by use of Parallelogram barriers in mixing tube</a:t>
          </a:r>
        </a:p>
      </dsp:txBody>
      <dsp:txXfrm>
        <a:off x="0" y="0"/>
        <a:ext cx="5607050" cy="1231899"/>
      </dsp:txXfrm>
    </dsp:sp>
    <dsp:sp modelId="{497846AE-7943-444E-A2C9-489C22B271D3}">
      <dsp:nvSpPr>
        <dsp:cNvPr id="0" name=""/>
        <dsp:cNvSpPr/>
      </dsp:nvSpPr>
      <dsp:spPr>
        <a:xfrm>
          <a:off x="0" y="1231899"/>
          <a:ext cx="5607050" cy="0"/>
        </a:xfrm>
        <a:prstGeom prst="line">
          <a:avLst/>
        </a:prstGeom>
        <a:gradFill rotWithShape="0">
          <a:gsLst>
            <a:gs pos="0">
              <a:schemeClr val="accent2">
                <a:hueOff val="-3450629"/>
                <a:satOff val="15286"/>
                <a:lumOff val="-5621"/>
                <a:alphaOff val="0"/>
                <a:tint val="97000"/>
                <a:satMod val="100000"/>
                <a:lumMod val="102000"/>
              </a:schemeClr>
            </a:gs>
            <a:gs pos="50000">
              <a:schemeClr val="accent2">
                <a:hueOff val="-3450629"/>
                <a:satOff val="15286"/>
                <a:lumOff val="-5621"/>
                <a:alphaOff val="0"/>
                <a:shade val="100000"/>
                <a:satMod val="103000"/>
                <a:lumMod val="100000"/>
              </a:schemeClr>
            </a:gs>
            <a:gs pos="100000">
              <a:schemeClr val="accent2">
                <a:hueOff val="-3450629"/>
                <a:satOff val="15286"/>
                <a:lumOff val="-5621"/>
                <a:alphaOff val="0"/>
                <a:shade val="93000"/>
                <a:satMod val="110000"/>
                <a:lumMod val="99000"/>
              </a:schemeClr>
            </a:gs>
          </a:gsLst>
          <a:lin ang="5400000" scaled="0"/>
        </a:gradFill>
        <a:ln w="6350" cap="flat" cmpd="sng" algn="ctr">
          <a:solidFill>
            <a:schemeClr val="accent2">
              <a:hueOff val="-3450629"/>
              <a:satOff val="15286"/>
              <a:lumOff val="-5621"/>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77B10A2-609E-486B-AC82-5FC5C1B1AF14}">
      <dsp:nvSpPr>
        <dsp:cNvPr id="0" name=""/>
        <dsp:cNvSpPr/>
      </dsp:nvSpPr>
      <dsp:spPr>
        <a:xfrm>
          <a:off x="0" y="1231899"/>
          <a:ext cx="560705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Implementation of a hybrid mixing system of both passive and active methods (Example : Pulsating inlet flow.)</a:t>
          </a:r>
        </a:p>
      </dsp:txBody>
      <dsp:txXfrm>
        <a:off x="0" y="1231899"/>
        <a:ext cx="5607050" cy="1231899"/>
      </dsp:txXfrm>
    </dsp:sp>
    <dsp:sp modelId="{34D21A2C-B98F-41AB-940E-9D783CAC6B3A}">
      <dsp:nvSpPr>
        <dsp:cNvPr id="0" name=""/>
        <dsp:cNvSpPr/>
      </dsp:nvSpPr>
      <dsp:spPr>
        <a:xfrm>
          <a:off x="0" y="2463799"/>
          <a:ext cx="5607050" cy="0"/>
        </a:xfrm>
        <a:prstGeom prst="line">
          <a:avLst/>
        </a:prstGeom>
        <a:gradFill rotWithShape="0">
          <a:gsLst>
            <a:gs pos="0">
              <a:schemeClr val="accent2">
                <a:hueOff val="-6901259"/>
                <a:satOff val="30573"/>
                <a:lumOff val="-11243"/>
                <a:alphaOff val="0"/>
                <a:tint val="97000"/>
                <a:satMod val="100000"/>
                <a:lumMod val="102000"/>
              </a:schemeClr>
            </a:gs>
            <a:gs pos="50000">
              <a:schemeClr val="accent2">
                <a:hueOff val="-6901259"/>
                <a:satOff val="30573"/>
                <a:lumOff val="-11243"/>
                <a:alphaOff val="0"/>
                <a:shade val="100000"/>
                <a:satMod val="103000"/>
                <a:lumMod val="100000"/>
              </a:schemeClr>
            </a:gs>
            <a:gs pos="100000">
              <a:schemeClr val="accent2">
                <a:hueOff val="-6901259"/>
                <a:satOff val="30573"/>
                <a:lumOff val="-11243"/>
                <a:alphaOff val="0"/>
                <a:shade val="93000"/>
                <a:satMod val="110000"/>
                <a:lumMod val="99000"/>
              </a:schemeClr>
            </a:gs>
          </a:gsLst>
          <a:lin ang="5400000" scaled="0"/>
        </a:gradFill>
        <a:ln w="6350" cap="flat" cmpd="sng" algn="ctr">
          <a:solidFill>
            <a:schemeClr val="accent2">
              <a:hueOff val="-6901259"/>
              <a:satOff val="30573"/>
              <a:lumOff val="-11243"/>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9CAB611-999C-4A22-85B3-787D61C7D90F}">
      <dsp:nvSpPr>
        <dsp:cNvPr id="0" name=""/>
        <dsp:cNvSpPr/>
      </dsp:nvSpPr>
      <dsp:spPr>
        <a:xfrm>
          <a:off x="0" y="2463799"/>
          <a:ext cx="560705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IN" sz="2500" kern="1200" dirty="0"/>
            <a:t>Generating time dependent concentration maps profiles of modified design</a:t>
          </a:r>
          <a:endParaRPr lang="en-US" sz="2500" kern="1200" dirty="0"/>
        </a:p>
      </dsp:txBody>
      <dsp:txXfrm>
        <a:off x="0" y="2463799"/>
        <a:ext cx="5607050" cy="1231899"/>
      </dsp:txXfrm>
    </dsp:sp>
    <dsp:sp modelId="{770A5C86-4BE6-4072-8D7D-7F2338761EC0}">
      <dsp:nvSpPr>
        <dsp:cNvPr id="0" name=""/>
        <dsp:cNvSpPr/>
      </dsp:nvSpPr>
      <dsp:spPr>
        <a:xfrm>
          <a:off x="0" y="3695699"/>
          <a:ext cx="5607050" cy="0"/>
        </a:xfrm>
        <a:prstGeom prst="line">
          <a:avLst/>
        </a:prstGeom>
        <a:gradFill rotWithShape="0">
          <a:gsLst>
            <a:gs pos="0">
              <a:schemeClr val="accent2">
                <a:hueOff val="-10351888"/>
                <a:satOff val="45859"/>
                <a:lumOff val="-16864"/>
                <a:alphaOff val="0"/>
                <a:tint val="97000"/>
                <a:satMod val="100000"/>
                <a:lumMod val="102000"/>
              </a:schemeClr>
            </a:gs>
            <a:gs pos="50000">
              <a:schemeClr val="accent2">
                <a:hueOff val="-10351888"/>
                <a:satOff val="45859"/>
                <a:lumOff val="-16864"/>
                <a:alphaOff val="0"/>
                <a:shade val="100000"/>
                <a:satMod val="103000"/>
                <a:lumMod val="100000"/>
              </a:schemeClr>
            </a:gs>
            <a:gs pos="100000">
              <a:schemeClr val="accent2">
                <a:hueOff val="-10351888"/>
                <a:satOff val="45859"/>
                <a:lumOff val="-16864"/>
                <a:alphaOff val="0"/>
                <a:shade val="93000"/>
                <a:satMod val="110000"/>
                <a:lumMod val="99000"/>
              </a:schemeClr>
            </a:gs>
          </a:gsLst>
          <a:lin ang="5400000" scaled="0"/>
        </a:gradFill>
        <a:ln w="6350" cap="flat" cmpd="sng" algn="ctr">
          <a:solidFill>
            <a:schemeClr val="accent2">
              <a:hueOff val="-10351888"/>
              <a:satOff val="45859"/>
              <a:lumOff val="-16864"/>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3C2642C-07DB-4183-9FA8-50224B2D9FAC}">
      <dsp:nvSpPr>
        <dsp:cNvPr id="0" name=""/>
        <dsp:cNvSpPr/>
      </dsp:nvSpPr>
      <dsp:spPr>
        <a:xfrm>
          <a:off x="0" y="3695699"/>
          <a:ext cx="560705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Implementing </a:t>
          </a:r>
          <a:r>
            <a:rPr lang="en-US" sz="2500" kern="1200" dirty="0" err="1"/>
            <a:t>peclet</a:t>
          </a:r>
          <a:r>
            <a:rPr lang="en-US" sz="2500" kern="1200" dirty="0"/>
            <a:t> number calculation to understand flow pattern with respect to flow rate(Tentative).</a:t>
          </a:r>
        </a:p>
      </dsp:txBody>
      <dsp:txXfrm>
        <a:off x="0" y="3695699"/>
        <a:ext cx="5607050" cy="12318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922132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1628329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706858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2118907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3322730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746DE6-3336-457D-A091-FA20AC1C536E}" type="slidenum">
              <a:rPr lang="en-US" smtClean="0"/>
              <a:t>7</a:t>
            </a:fld>
            <a:endParaRPr lang="en-US"/>
          </a:p>
        </p:txBody>
      </p:sp>
    </p:spTree>
    <p:extLst>
      <p:ext uri="{BB962C8B-B14F-4D97-AF65-F5344CB8AC3E}">
        <p14:creationId xmlns:p14="http://schemas.microsoft.com/office/powerpoint/2010/main" val="2921001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746DE6-3336-457D-A091-FA20AC1C536E}" type="slidenum">
              <a:rPr lang="en-US" smtClean="0"/>
              <a:t>9</a:t>
            </a:fld>
            <a:endParaRPr lang="en-US"/>
          </a:p>
        </p:txBody>
      </p:sp>
    </p:spTree>
    <p:extLst>
      <p:ext uri="{BB962C8B-B14F-4D97-AF65-F5344CB8AC3E}">
        <p14:creationId xmlns:p14="http://schemas.microsoft.com/office/powerpoint/2010/main" val="3922569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10</a:t>
            </a:fld>
            <a:endParaRPr lang="en-US"/>
          </a:p>
        </p:txBody>
      </p:sp>
    </p:spTree>
    <p:extLst>
      <p:ext uri="{BB962C8B-B14F-4D97-AF65-F5344CB8AC3E}">
        <p14:creationId xmlns:p14="http://schemas.microsoft.com/office/powerpoint/2010/main" val="1348379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11</a:t>
            </a:fld>
            <a:endParaRPr lang="en-US"/>
          </a:p>
        </p:txBody>
      </p:sp>
    </p:spTree>
    <p:extLst>
      <p:ext uri="{BB962C8B-B14F-4D97-AF65-F5344CB8AC3E}">
        <p14:creationId xmlns:p14="http://schemas.microsoft.com/office/powerpoint/2010/main" val="537381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Open Sans"/>
              <a:ea typeface="Open Sans"/>
              <a:cs typeface="Open San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12</a:t>
            </a:fld>
            <a:endParaRPr lang="en-US"/>
          </a:p>
        </p:txBody>
      </p:sp>
    </p:spTree>
    <p:extLst>
      <p:ext uri="{BB962C8B-B14F-4D97-AF65-F5344CB8AC3E}">
        <p14:creationId xmlns:p14="http://schemas.microsoft.com/office/powerpoint/2010/main" val="3295480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13</a:t>
            </a:fld>
            <a:endParaRPr lang="en-US"/>
          </a:p>
        </p:txBody>
      </p:sp>
    </p:spTree>
    <p:extLst>
      <p:ext uri="{BB962C8B-B14F-4D97-AF65-F5344CB8AC3E}">
        <p14:creationId xmlns:p14="http://schemas.microsoft.com/office/powerpoint/2010/main" val="3733282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5" y="4352544"/>
            <a:ext cx="6801612" cy="1239894"/>
          </a:xfrm>
          <a:noFill/>
        </p:spPr>
        <p:txBody>
          <a:bodyPr>
            <a:normAutofit/>
          </a:bodyPr>
          <a:lstStyle>
            <a:lvl1pPr marL="0" indent="0" algn="ctr">
              <a:buNone/>
              <a:defRPr sz="2000">
                <a:solidFill>
                  <a:schemeClr val="tx1">
                    <a:lumMod val="75000"/>
                    <a:lumOff val="2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8/12/2022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5269582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8/12/2022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946809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5" y="4352465"/>
            <a:ext cx="6801612" cy="1265082"/>
          </a:xfrm>
        </p:spPr>
        <p:txBody>
          <a:bodyPr anchor="t" anchorCtr="1">
            <a:normAutofit/>
          </a:bodyPr>
          <a:lstStyle>
            <a:lvl1pPr marL="0" indent="0">
              <a:buNone/>
              <a:defRPr sz="20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8/12/2022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9576151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8"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8/12/2022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008465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7"/>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189" indent="0">
              <a:buNone/>
              <a:defRPr sz="19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8"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7"/>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189" indent="0">
              <a:buNone/>
              <a:defRPr sz="19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8/12/2022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90006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8/12/2022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044763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8/12/2022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81271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32"/>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8/12/2022</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795084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3"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4" y="2243828"/>
            <a:ext cx="4494999"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6002"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22"/>
            <a:ext cx="3794760" cy="2194037"/>
          </a:xfrm>
        </p:spPr>
        <p:txBody>
          <a:bodyPr anchor="t" anchorCtr="1">
            <a:normAutofit/>
          </a:bodyPr>
          <a:lstStyle>
            <a:lvl1pPr marL="0" indent="0" algn="ctr">
              <a:buNone/>
              <a:defRPr sz="1500">
                <a:solidFill>
                  <a:srgbClr val="FFFFFF"/>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8/12/2022</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716925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8/12/2022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81356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8"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8/12/2022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125801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8"/>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7" cy="323968"/>
          </a:xfrm>
          <a:prstGeom prst="rect">
            <a:avLst/>
          </a:prstGeom>
        </p:spPr>
        <p:txBody>
          <a:bodyPr vert="horz" lIns="91440" tIns="45720" rIns="91440" bIns="45720" rtlCol="0" anchor="ctr"/>
          <a:lstStyle>
            <a:lvl1pPr algn="r">
              <a:defRPr sz="1051">
                <a:solidFill>
                  <a:schemeClr val="tx1">
                    <a:alpha val="70000"/>
                  </a:schemeClr>
                </a:solidFill>
              </a:defRPr>
            </a:lvl1pPr>
          </a:lstStyle>
          <a:p>
            <a:fld id="{1160EA64-D806-43AC-9DF2-F8C432F32B4C}" type="datetimeFigureOut">
              <a:rPr lang="en-US" dirty="0"/>
              <a:t>8/12/2022</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1">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3"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2153484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377"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594" indent="-228594" algn="l" defTabSz="914377"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189" indent="-228594" algn="l" defTabSz="914377"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783" indent="-228594" algn="l" defTabSz="914377"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377" indent="-228594" algn="l" defTabSz="914377"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2971" indent="-228594" algn="l" defTabSz="914377"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30" indent="-228594" algn="l" defTabSz="914377"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276" indent="-228594" algn="l" defTabSz="914377"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09" indent="-228594" algn="l" defTabSz="914377"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28" indent="-228594" algn="l" defTabSz="914377"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6.jpg"/><Relationship Id="rId7" Type="http://schemas.openxmlformats.org/officeDocument/2006/relationships/diagramQuickStyle" Target="../diagrams/quickStyle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8.png"/><Relationship Id="rId4" Type="http://schemas.openxmlformats.org/officeDocument/2006/relationships/image" Target="../media/image7.png"/><Relationship Id="rId9" Type="http://schemas.microsoft.com/office/2007/relationships/diagramDrawing" Target="../diagrams/drawing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80/19942060.2011.11015365" TargetMode="External"/><Relationship Id="rId2" Type="http://schemas.openxmlformats.org/officeDocument/2006/relationships/hyperlink" Target="https://hummingbirdscientific.com/products/liquid/"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type="subTitle" idx="1"/>
          </p:nvPr>
        </p:nvSpPr>
        <p:spPr>
          <a:xfrm>
            <a:off x="640071" y="5431539"/>
            <a:ext cx="11077799" cy="552993"/>
          </a:xfrm>
        </p:spPr>
        <p:txBody>
          <a:bodyPr>
            <a:normAutofit/>
          </a:bodyPr>
          <a:lstStyle/>
          <a:p>
            <a:r>
              <a:rPr lang="en-IN" sz="2400" dirty="0"/>
              <a:t>Presenter:  Nisarg Makwana[201582552]		Project Supervisor:  Prof. Nik </a:t>
            </a:r>
            <a:r>
              <a:rPr lang="en-IN" sz="2400" dirty="0" err="1"/>
              <a:t>Kapur</a:t>
            </a:r>
            <a:endParaRPr lang="en-IN" sz="2400" dirty="0"/>
          </a:p>
        </p:txBody>
      </p:sp>
      <p:sp>
        <p:nvSpPr>
          <p:cNvPr id="16" name="Rectangle 15">
            <a:extLst>
              <a:ext uri="{FF2B5EF4-FFF2-40B4-BE49-F238E27FC236}">
                <a16:creationId xmlns:a16="http://schemas.microsoft.com/office/drawing/2014/main" id="{84167985-D6E9-40FF-97C0-4B6D373E8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0" y="640080"/>
            <a:ext cx="10911865" cy="462686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8801362-349C-44BE-BEF6-8E926E1D3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196" y="804672"/>
            <a:ext cx="10579608" cy="42976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62729" y="1289305"/>
            <a:ext cx="9638443" cy="3339303"/>
          </a:xfrm>
          <a:ln>
            <a:noFill/>
          </a:ln>
        </p:spPr>
        <p:txBody>
          <a:bodyPr>
            <a:normAutofit/>
          </a:bodyPr>
          <a:lstStyle/>
          <a:p>
            <a:r>
              <a:rPr lang="en-US" sz="5000" dirty="0"/>
              <a:t>Flow Cell Design for Microfluidic flow Study</a:t>
            </a:r>
          </a:p>
        </p:txBody>
      </p:sp>
    </p:spTree>
    <p:extLst>
      <p:ext uri="{BB962C8B-B14F-4D97-AF65-F5344CB8AC3E}">
        <p14:creationId xmlns:p14="http://schemas.microsoft.com/office/powerpoint/2010/main" val="344980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1" name="Picture 14">
            <a:extLst>
              <a:ext uri="{FF2B5EF4-FFF2-40B4-BE49-F238E27FC236}">
                <a16:creationId xmlns:a16="http://schemas.microsoft.com/office/drawing/2014/main" id="{B7AA5402-6014-950F-8F1B-0F6BD9AFAE92}"/>
              </a:ext>
            </a:extLst>
          </p:cNvPr>
          <p:cNvPicPr>
            <a:picLocks noChangeAspect="1"/>
          </p:cNvPicPr>
          <p:nvPr/>
        </p:nvPicPr>
        <p:blipFill rotWithShape="1">
          <a:blip r:embed="rId3"/>
          <a:srcRect l="11878" r="5689"/>
          <a:stretch/>
        </p:blipFill>
        <p:spPr>
          <a:xfrm>
            <a:off x="20" y="10"/>
            <a:ext cx="7537684" cy="6857990"/>
          </a:xfrm>
          <a:prstGeom prst="rect">
            <a:avLst/>
          </a:prstGeom>
        </p:spPr>
      </p:pic>
      <p:sp>
        <p:nvSpPr>
          <p:cNvPr id="2" name="Title 1"/>
          <p:cNvSpPr>
            <a:spLocks noGrp="1"/>
          </p:cNvSpPr>
          <p:nvPr>
            <p:ph type="title"/>
          </p:nvPr>
        </p:nvSpPr>
        <p:spPr>
          <a:xfrm>
            <a:off x="804672" y="2844368"/>
            <a:ext cx="5928360" cy="1188720"/>
          </a:xfrm>
          <a:solidFill>
            <a:schemeClr val="bg1">
              <a:alpha val="80000"/>
            </a:schemeClr>
          </a:solidFill>
          <a:ln>
            <a:solidFill>
              <a:schemeClr val="tx1">
                <a:lumMod val="75000"/>
                <a:lumOff val="25000"/>
              </a:schemeClr>
            </a:solidFill>
          </a:ln>
        </p:spPr>
        <p:txBody>
          <a:bodyPr>
            <a:normAutofit/>
          </a:bodyPr>
          <a:lstStyle/>
          <a:p>
            <a:r>
              <a:rPr lang="en-US" dirty="0">
                <a:solidFill>
                  <a:schemeClr val="tx1">
                    <a:lumMod val="85000"/>
                    <a:lumOff val="15000"/>
                  </a:schemeClr>
                </a:solidFill>
              </a:rPr>
              <a:t>Summary</a:t>
            </a:r>
          </a:p>
        </p:txBody>
      </p:sp>
      <p:sp>
        <p:nvSpPr>
          <p:cNvPr id="43" name="Rectangle 42">
            <a:extLst>
              <a:ext uri="{FF2B5EF4-FFF2-40B4-BE49-F238E27FC236}">
                <a16:creationId xmlns:a16="http://schemas.microsoft.com/office/drawing/2014/main" id="{68D8C857-9447-4941-8520-9A44A926F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674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537704" y="0"/>
            <a:ext cx="4654296" cy="6871470"/>
          </a:xfrm>
          <a:solidFill>
            <a:schemeClr val="bg2">
              <a:lumMod val="75000"/>
            </a:schemeClr>
          </a:solidFill>
        </p:spPr>
        <p:txBody>
          <a:bodyPr vert="horz" lIns="91440" tIns="45720" rIns="91440" bIns="45720" rtlCol="0" anchor="ctr">
            <a:normAutofit/>
          </a:bodyPr>
          <a:lstStyle/>
          <a:p>
            <a:r>
              <a:rPr lang="en-US" sz="2400" dirty="0">
                <a:solidFill>
                  <a:schemeClr val="tx1"/>
                </a:solidFill>
              </a:rPr>
              <a:t>Aim &amp; project objectives</a:t>
            </a:r>
          </a:p>
          <a:p>
            <a:pPr marL="227965" indent="-227965"/>
            <a:r>
              <a:rPr lang="en-IN" sz="2400" dirty="0">
                <a:solidFill>
                  <a:schemeClr val="tx1"/>
                </a:solidFill>
              </a:rPr>
              <a:t>Introduction to flow cell</a:t>
            </a:r>
          </a:p>
          <a:p>
            <a:pPr marL="227965" indent="-227965"/>
            <a:r>
              <a:rPr lang="en-IN" sz="2400" dirty="0">
                <a:solidFill>
                  <a:schemeClr val="tx1"/>
                </a:solidFill>
              </a:rPr>
              <a:t>Flow properties</a:t>
            </a:r>
          </a:p>
          <a:p>
            <a:pPr marL="227965" indent="-227965"/>
            <a:r>
              <a:rPr lang="en-IN" sz="2400" dirty="0">
                <a:solidFill>
                  <a:schemeClr val="tx1"/>
                </a:solidFill>
              </a:rPr>
              <a:t>Numerical model study</a:t>
            </a:r>
          </a:p>
          <a:p>
            <a:pPr marL="227965" indent="-227965"/>
            <a:r>
              <a:rPr lang="en-IN" sz="2400" dirty="0">
                <a:solidFill>
                  <a:schemeClr val="tx1"/>
                </a:solidFill>
              </a:rPr>
              <a:t>Design study</a:t>
            </a:r>
          </a:p>
          <a:p>
            <a:pPr marL="227965" indent="-227965"/>
            <a:r>
              <a:rPr lang="en-IN" sz="2400" dirty="0">
                <a:solidFill>
                  <a:schemeClr val="tx1"/>
                </a:solidFill>
              </a:rPr>
              <a:t>Result &amp; verification</a:t>
            </a:r>
          </a:p>
          <a:p>
            <a:pPr marL="227965" indent="-227965"/>
            <a:r>
              <a:rPr lang="en-IN" sz="2400" dirty="0">
                <a:solidFill>
                  <a:schemeClr val="tx1"/>
                </a:solidFill>
              </a:rPr>
              <a:t>Prospective work</a:t>
            </a:r>
          </a:p>
        </p:txBody>
      </p:sp>
    </p:spTree>
    <p:extLst>
      <p:ext uri="{BB962C8B-B14F-4D97-AF65-F5344CB8AC3E}">
        <p14:creationId xmlns:p14="http://schemas.microsoft.com/office/powerpoint/2010/main" val="329376960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4" name="Content Placeholder 2">
            <a:extLst>
              <a:ext uri="{FF2B5EF4-FFF2-40B4-BE49-F238E27FC236}">
                <a16:creationId xmlns:a16="http://schemas.microsoft.com/office/drawing/2014/main" id="{9128BCC9-2BF6-4771-18A1-0CDCAB45AD33}"/>
              </a:ext>
            </a:extLst>
          </p:cNvPr>
          <p:cNvGraphicFramePr>
            <a:graphicFrameLocks noGrp="1"/>
          </p:cNvGraphicFramePr>
          <p:nvPr>
            <p:ph sz="half" idx="2"/>
            <p:extLst>
              <p:ext uri="{D42A27DB-BD31-4B8C-83A1-F6EECF244321}">
                <p14:modId xmlns:p14="http://schemas.microsoft.com/office/powerpoint/2010/main" val="2420070594"/>
              </p:ext>
            </p:extLst>
          </p:nvPr>
        </p:nvGraphicFramePr>
        <p:xfrm>
          <a:off x="6349205" y="1946329"/>
          <a:ext cx="4830427" cy="44109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8" name="Table 18">
            <a:extLst>
              <a:ext uri="{FF2B5EF4-FFF2-40B4-BE49-F238E27FC236}">
                <a16:creationId xmlns:a16="http://schemas.microsoft.com/office/drawing/2014/main" id="{A502088F-A5EC-17F0-28D9-6E4C1A76ECFA}"/>
              </a:ext>
            </a:extLst>
          </p:cNvPr>
          <p:cNvGraphicFramePr>
            <a:graphicFrameLocks noGrp="1"/>
          </p:cNvGraphicFramePr>
          <p:nvPr>
            <p:extLst>
              <p:ext uri="{D42A27DB-BD31-4B8C-83A1-F6EECF244321}">
                <p14:modId xmlns:p14="http://schemas.microsoft.com/office/powerpoint/2010/main" val="2961003339"/>
              </p:ext>
            </p:extLst>
          </p:nvPr>
        </p:nvGraphicFramePr>
        <p:xfrm>
          <a:off x="6338316" y="935069"/>
          <a:ext cx="4599651" cy="513514"/>
        </p:xfrm>
        <a:graphic>
          <a:graphicData uri="http://schemas.openxmlformats.org/drawingml/2006/table">
            <a:tbl>
              <a:tblPr firstRow="1" bandRow="1">
                <a:tableStyleId>{5940675A-B579-460E-94D1-54222C63F5DA}</a:tableStyleId>
              </a:tblPr>
              <a:tblGrid>
                <a:gridCol w="4599651">
                  <a:extLst>
                    <a:ext uri="{9D8B030D-6E8A-4147-A177-3AD203B41FA5}">
                      <a16:colId xmlns:a16="http://schemas.microsoft.com/office/drawing/2014/main" val="672890567"/>
                    </a:ext>
                  </a:extLst>
                </a:gridCol>
              </a:tblGrid>
              <a:tr h="513514">
                <a:tc>
                  <a:txBody>
                    <a:bodyPr/>
                    <a:lstStyle/>
                    <a:p>
                      <a:pPr algn="ctr"/>
                      <a:r>
                        <a:rPr lang="en-IN" sz="2400" dirty="0">
                          <a:solidFill>
                            <a:srgbClr val="009999"/>
                          </a:solidFill>
                        </a:rPr>
                        <a:t>PROJECT OBJECTIVES</a:t>
                      </a:r>
                    </a:p>
                  </a:txBody>
                  <a:tcPr/>
                </a:tc>
                <a:extLst>
                  <a:ext uri="{0D108BD9-81ED-4DB2-BD59-A6C34878D82A}">
                    <a16:rowId xmlns:a16="http://schemas.microsoft.com/office/drawing/2014/main" val="2164449067"/>
                  </a:ext>
                </a:extLst>
              </a:tr>
            </a:tbl>
          </a:graphicData>
        </a:graphic>
      </p:graphicFrame>
      <p:graphicFrame>
        <p:nvGraphicFramePr>
          <p:cNvPr id="20" name="Table 20">
            <a:extLst>
              <a:ext uri="{FF2B5EF4-FFF2-40B4-BE49-F238E27FC236}">
                <a16:creationId xmlns:a16="http://schemas.microsoft.com/office/drawing/2014/main" id="{195F050B-63FD-64F8-A77B-429659D20789}"/>
              </a:ext>
            </a:extLst>
          </p:cNvPr>
          <p:cNvGraphicFramePr>
            <a:graphicFrameLocks noGrp="1"/>
          </p:cNvGraphicFramePr>
          <p:nvPr>
            <p:extLst>
              <p:ext uri="{D42A27DB-BD31-4B8C-83A1-F6EECF244321}">
                <p14:modId xmlns:p14="http://schemas.microsoft.com/office/powerpoint/2010/main" val="4078137762"/>
              </p:ext>
            </p:extLst>
          </p:nvPr>
        </p:nvGraphicFramePr>
        <p:xfrm>
          <a:off x="1407846" y="923401"/>
          <a:ext cx="4276397" cy="513514"/>
        </p:xfrm>
        <a:graphic>
          <a:graphicData uri="http://schemas.openxmlformats.org/drawingml/2006/table">
            <a:tbl>
              <a:tblPr firstRow="1" bandRow="1">
                <a:tableStyleId>{5940675A-B579-460E-94D1-54222C63F5DA}</a:tableStyleId>
              </a:tblPr>
              <a:tblGrid>
                <a:gridCol w="4276397">
                  <a:extLst>
                    <a:ext uri="{9D8B030D-6E8A-4147-A177-3AD203B41FA5}">
                      <a16:colId xmlns:a16="http://schemas.microsoft.com/office/drawing/2014/main" val="1225418908"/>
                    </a:ext>
                  </a:extLst>
                </a:gridCol>
              </a:tblGrid>
              <a:tr h="513514">
                <a:tc>
                  <a:txBody>
                    <a:bodyPr/>
                    <a:lstStyle/>
                    <a:p>
                      <a:pPr algn="ctr"/>
                      <a:r>
                        <a:rPr lang="en-IN" sz="2400" dirty="0">
                          <a:solidFill>
                            <a:srgbClr val="009999"/>
                          </a:solidFill>
                        </a:rPr>
                        <a:t>AIM</a:t>
                      </a:r>
                    </a:p>
                  </a:txBody>
                  <a:tcPr/>
                </a:tc>
                <a:extLst>
                  <a:ext uri="{0D108BD9-81ED-4DB2-BD59-A6C34878D82A}">
                    <a16:rowId xmlns:a16="http://schemas.microsoft.com/office/drawing/2014/main" val="1270742184"/>
                  </a:ext>
                </a:extLst>
              </a:tr>
            </a:tbl>
          </a:graphicData>
        </a:graphic>
      </p:graphicFrame>
      <p:sp>
        <p:nvSpPr>
          <p:cNvPr id="26" name="Flowchart: Terminator 25">
            <a:extLst>
              <a:ext uri="{FF2B5EF4-FFF2-40B4-BE49-F238E27FC236}">
                <a16:creationId xmlns:a16="http://schemas.microsoft.com/office/drawing/2014/main" id="{39C5E0E9-E7CB-1E66-EC32-6F67F2FABA0F}"/>
              </a:ext>
            </a:extLst>
          </p:cNvPr>
          <p:cNvSpPr/>
          <p:nvPr/>
        </p:nvSpPr>
        <p:spPr>
          <a:xfrm>
            <a:off x="1012373" y="1850572"/>
            <a:ext cx="4830427" cy="4261542"/>
          </a:xfrm>
          <a:prstGeom prst="flowChartTerminator">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600" dirty="0"/>
          </a:p>
          <a:p>
            <a:pPr algn="ctr"/>
            <a:r>
              <a:rPr lang="en-US" sz="2600" dirty="0"/>
              <a:t>The aim of this project is to design flow cell geometry to obtain thorough &amp; rapid mixing of continuous microfluidic flow and understand flow pattern for device used to study in image spectroscopy using  TEM(Transmission Electron Microscope). </a:t>
            </a:r>
            <a:endParaRPr lang="en-IN" sz="2600" dirty="0"/>
          </a:p>
          <a:p>
            <a:pPr algn="ctr"/>
            <a:endParaRPr lang="en-I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28641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anim calcmode="lin" valueType="num">
                                      <p:cBhvr>
                                        <p:cTn id="14" dur="1000" fill="hold"/>
                                        <p:tgtEl>
                                          <p:spTgt spid="18"/>
                                        </p:tgtEl>
                                        <p:attrNameLst>
                                          <p:attrName>ppt_x</p:attrName>
                                        </p:attrNameLst>
                                      </p:cBhvr>
                                      <p:tavLst>
                                        <p:tav tm="0">
                                          <p:val>
                                            <p:strVal val="#ppt_x"/>
                                          </p:val>
                                        </p:tav>
                                        <p:tav tm="100000">
                                          <p:val>
                                            <p:strVal val="#ppt_x"/>
                                          </p:val>
                                        </p:tav>
                                      </p:tavLst>
                                    </p:anim>
                                    <p:anim calcmode="lin" valueType="num">
                                      <p:cBhvr>
                                        <p:cTn id="1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1000"/>
                                        <p:tgtEl>
                                          <p:spTgt spid="14"/>
                                        </p:tgtEl>
                                      </p:cBhvr>
                                    </p:animEffect>
                                    <p:anim calcmode="lin" valueType="num">
                                      <p:cBhvr>
                                        <p:cTn id="21" dur="1000" fill="hold"/>
                                        <p:tgtEl>
                                          <p:spTgt spid="14"/>
                                        </p:tgtEl>
                                        <p:attrNameLst>
                                          <p:attrName>ppt_x</p:attrName>
                                        </p:attrNameLst>
                                      </p:cBhvr>
                                      <p:tavLst>
                                        <p:tav tm="0">
                                          <p:val>
                                            <p:strVal val="#ppt_x"/>
                                          </p:val>
                                        </p:tav>
                                        <p:tav tm="100000">
                                          <p:val>
                                            <p:strVal val="#ppt_x"/>
                                          </p:val>
                                        </p:tav>
                                      </p:tavLst>
                                    </p:anim>
                                    <p:anim calcmode="lin" valueType="num">
                                      <p:cBhvr>
                                        <p:cTn id="2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device&#10;&#10;Description automatically generated">
            <a:extLst>
              <a:ext uri="{FF2B5EF4-FFF2-40B4-BE49-F238E27FC236}">
                <a16:creationId xmlns:a16="http://schemas.microsoft.com/office/drawing/2014/main" id="{88ABC0D3-A26C-F7A8-7DB4-ED6E20D9C066}"/>
              </a:ext>
            </a:extLst>
          </p:cNvPr>
          <p:cNvPicPr>
            <a:picLocks noChangeAspect="1"/>
          </p:cNvPicPr>
          <p:nvPr/>
        </p:nvPicPr>
        <p:blipFill rotWithShape="1">
          <a:blip r:embed="rId3"/>
          <a:srcRect l="4549" t="-1" r="4505" b="4"/>
          <a:stretch/>
        </p:blipFill>
        <p:spPr>
          <a:xfrm>
            <a:off x="4691018" y="563199"/>
            <a:ext cx="3675172" cy="1808315"/>
          </a:xfrm>
          <a:prstGeom prst="rect">
            <a:avLst/>
          </a:prstGeom>
        </p:spPr>
      </p:pic>
      <p:pic>
        <p:nvPicPr>
          <p:cNvPr id="4" name="Picture 3">
            <a:extLst>
              <a:ext uri="{FF2B5EF4-FFF2-40B4-BE49-F238E27FC236}">
                <a16:creationId xmlns:a16="http://schemas.microsoft.com/office/drawing/2014/main" id="{F67FCF31-E79D-6BDB-4E0F-489B9EE053C6}"/>
              </a:ext>
            </a:extLst>
          </p:cNvPr>
          <p:cNvPicPr>
            <a:picLocks noChangeAspect="1"/>
          </p:cNvPicPr>
          <p:nvPr/>
        </p:nvPicPr>
        <p:blipFill rotWithShape="1">
          <a:blip r:embed="rId4"/>
          <a:srcRect r="-176"/>
          <a:stretch/>
        </p:blipFill>
        <p:spPr>
          <a:xfrm>
            <a:off x="4649236" y="2634811"/>
            <a:ext cx="7433911" cy="4212708"/>
          </a:xfrm>
          <a:prstGeom prst="rect">
            <a:avLst/>
          </a:prstGeom>
        </p:spPr>
      </p:pic>
      <p:sp>
        <p:nvSpPr>
          <p:cNvPr id="31" name="Rectangle 3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9" y="603334"/>
            <a:ext cx="3363975" cy="1728044"/>
          </a:xfrm>
          <a:noFill/>
          <a:ln>
            <a:solidFill>
              <a:schemeClr val="bg1"/>
            </a:solidFill>
          </a:ln>
        </p:spPr>
        <p:txBody>
          <a:bodyPr wrap="square">
            <a:normAutofit/>
          </a:bodyPr>
          <a:lstStyle/>
          <a:p>
            <a:r>
              <a:rPr lang="en-US" dirty="0">
                <a:solidFill>
                  <a:schemeClr val="bg1"/>
                </a:solidFill>
              </a:rPr>
              <a:t>Flow Cell</a:t>
            </a:r>
          </a:p>
        </p:txBody>
      </p:sp>
      <p:sp>
        <p:nvSpPr>
          <p:cNvPr id="3" name="Content Placeholder 2"/>
          <p:cNvSpPr>
            <a:spLocks noGrp="1"/>
          </p:cNvSpPr>
          <p:nvPr>
            <p:ph idx="1"/>
          </p:nvPr>
        </p:nvSpPr>
        <p:spPr>
          <a:xfrm>
            <a:off x="250370" y="2638045"/>
            <a:ext cx="4224729" cy="4067555"/>
          </a:xfrm>
        </p:spPr>
        <p:txBody>
          <a:bodyPr vert="horz" lIns="91440" tIns="45720" rIns="91440" bIns="45720" rtlCol="0" anchor="t">
            <a:noAutofit/>
          </a:bodyPr>
          <a:lstStyle/>
          <a:p>
            <a:pPr marL="227965" indent="-227965"/>
            <a:r>
              <a:rPr lang="en-IN" sz="2200" dirty="0">
                <a:solidFill>
                  <a:schemeClr val="bg1"/>
                </a:solidFill>
              </a:rPr>
              <a:t>What is Microfluidics?</a:t>
            </a:r>
          </a:p>
          <a:p>
            <a:pPr marL="227965" indent="-227965"/>
            <a:r>
              <a:rPr lang="en-IN" sz="2200" dirty="0">
                <a:solidFill>
                  <a:schemeClr val="bg1"/>
                </a:solidFill>
              </a:rPr>
              <a:t>Flow cell are devices in which liquid samples can be continuously flowed for spectrometry study.</a:t>
            </a:r>
            <a:endParaRPr lang="en-US" sz="2200" dirty="0">
              <a:solidFill>
                <a:schemeClr val="bg1"/>
              </a:solidFill>
            </a:endParaRPr>
          </a:p>
          <a:p>
            <a:pPr marL="227965" indent="-227965"/>
            <a:r>
              <a:rPr lang="en-US" sz="2200" dirty="0">
                <a:solidFill>
                  <a:schemeClr val="bg1"/>
                </a:solidFill>
              </a:rPr>
              <a:t>Flow cells can either be purpose-built for the sensor of interest or sensors be developed for use with a commercially available flow cell [1].</a:t>
            </a:r>
          </a:p>
          <a:p>
            <a:pPr marL="227965" indent="-227965"/>
            <a:endParaRPr lang="en-US" dirty="0">
              <a:solidFill>
                <a:schemeClr val="bg1"/>
              </a:solidFill>
            </a:endParaRPr>
          </a:p>
        </p:txBody>
      </p:sp>
      <p:pic>
        <p:nvPicPr>
          <p:cNvPr id="7" name="Picture 6" descr="Diagram, engineering drawing&#10;&#10;Description automatically generated">
            <a:extLst>
              <a:ext uri="{FF2B5EF4-FFF2-40B4-BE49-F238E27FC236}">
                <a16:creationId xmlns:a16="http://schemas.microsoft.com/office/drawing/2014/main" id="{DEA16157-9259-A428-919E-D343864F83F1}"/>
              </a:ext>
            </a:extLst>
          </p:cNvPr>
          <p:cNvPicPr>
            <a:picLocks noChangeAspect="1"/>
          </p:cNvPicPr>
          <p:nvPr/>
        </p:nvPicPr>
        <p:blipFill rotWithShape="1">
          <a:blip r:embed="rId5"/>
          <a:srcRect l="6562" r="1253" b="1"/>
          <a:stretch/>
        </p:blipFill>
        <p:spPr>
          <a:xfrm>
            <a:off x="8424672" y="11"/>
            <a:ext cx="3776472" cy="2645284"/>
          </a:xfrm>
          <a:prstGeom prst="rect">
            <a:avLst/>
          </a:prstGeom>
        </p:spPr>
      </p:pic>
      <p:sp>
        <p:nvSpPr>
          <p:cNvPr id="6" name="TextBox 5">
            <a:extLst>
              <a:ext uri="{FF2B5EF4-FFF2-40B4-BE49-F238E27FC236}">
                <a16:creationId xmlns:a16="http://schemas.microsoft.com/office/drawing/2014/main" id="{532BD8DC-C7DD-FF73-7A01-D54D39232873}"/>
              </a:ext>
            </a:extLst>
          </p:cNvPr>
          <p:cNvSpPr txBox="1"/>
          <p:nvPr/>
        </p:nvSpPr>
        <p:spPr>
          <a:xfrm>
            <a:off x="5460600" y="6435652"/>
            <a:ext cx="5892382" cy="369332"/>
          </a:xfrm>
          <a:prstGeom prst="rect">
            <a:avLst/>
          </a:prstGeom>
          <a:noFill/>
        </p:spPr>
        <p:txBody>
          <a:bodyPr wrap="none" rtlCol="0">
            <a:spAutoFit/>
          </a:bodyPr>
          <a:lstStyle/>
          <a:p>
            <a:r>
              <a:rPr lang="en-IN" dirty="0"/>
              <a:t>Fig2. Schematic design of flow cell by Humming bird Scientific</a:t>
            </a:r>
          </a:p>
        </p:txBody>
      </p:sp>
      <p:sp>
        <p:nvSpPr>
          <p:cNvPr id="8" name="TextBox 7">
            <a:extLst>
              <a:ext uri="{FF2B5EF4-FFF2-40B4-BE49-F238E27FC236}">
                <a16:creationId xmlns:a16="http://schemas.microsoft.com/office/drawing/2014/main" id="{8E1D9380-2FDD-1022-663B-01E4845A7230}"/>
              </a:ext>
            </a:extLst>
          </p:cNvPr>
          <p:cNvSpPr txBox="1"/>
          <p:nvPr/>
        </p:nvSpPr>
        <p:spPr>
          <a:xfrm>
            <a:off x="5631623" y="2285776"/>
            <a:ext cx="2930546" cy="338554"/>
          </a:xfrm>
          <a:prstGeom prst="rect">
            <a:avLst/>
          </a:prstGeom>
          <a:noFill/>
        </p:spPr>
        <p:txBody>
          <a:bodyPr wrap="none" rtlCol="0">
            <a:spAutoFit/>
          </a:bodyPr>
          <a:lstStyle/>
          <a:p>
            <a:r>
              <a:rPr lang="en-IN" sz="1600" dirty="0"/>
              <a:t>Fig1. Practical Flow Cell Image[2]</a:t>
            </a:r>
          </a:p>
        </p:txBody>
      </p:sp>
    </p:spTree>
    <p:extLst>
      <p:ext uri="{BB962C8B-B14F-4D97-AF65-F5344CB8AC3E}">
        <p14:creationId xmlns:p14="http://schemas.microsoft.com/office/powerpoint/2010/main" val="366822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73AB92-DBD3-3EFB-EE2C-BF0099C5C2E7}"/>
              </a:ext>
            </a:extLst>
          </p:cNvPr>
          <p:cNvSpPr>
            <a:spLocks noGrp="1"/>
          </p:cNvSpPr>
          <p:nvPr>
            <p:ph type="title"/>
          </p:nvPr>
        </p:nvSpPr>
        <p:spPr>
          <a:xfrm>
            <a:off x="643467" y="2681103"/>
            <a:ext cx="3363975" cy="1495795"/>
          </a:xfrm>
          <a:noFill/>
          <a:ln>
            <a:solidFill>
              <a:schemeClr val="bg1"/>
            </a:solidFill>
          </a:ln>
        </p:spPr>
        <p:txBody>
          <a:bodyPr wrap="square">
            <a:normAutofit fontScale="90000"/>
          </a:bodyPr>
          <a:lstStyle/>
          <a:p>
            <a:r>
              <a:rPr lang="en-IN" sz="3200" dirty="0">
                <a:solidFill>
                  <a:schemeClr val="bg1"/>
                </a:solidFill>
              </a:rPr>
              <a:t>Application of </a:t>
            </a:r>
            <a:br>
              <a:rPr lang="en-IN" sz="3200" dirty="0">
                <a:solidFill>
                  <a:schemeClr val="bg1"/>
                </a:solidFill>
              </a:rPr>
            </a:br>
            <a:r>
              <a:rPr lang="en-IN" sz="3200" dirty="0">
                <a:solidFill>
                  <a:schemeClr val="bg1"/>
                </a:solidFill>
              </a:rPr>
              <a:t>Flow Cell</a:t>
            </a:r>
          </a:p>
        </p:txBody>
      </p:sp>
      <p:graphicFrame>
        <p:nvGraphicFramePr>
          <p:cNvPr id="5" name="Content Placeholder 2">
            <a:extLst>
              <a:ext uri="{FF2B5EF4-FFF2-40B4-BE49-F238E27FC236}">
                <a16:creationId xmlns:a16="http://schemas.microsoft.com/office/drawing/2014/main" id="{D138FF98-759E-3BFF-6F29-09AFC2E8F0CF}"/>
              </a:ext>
            </a:extLst>
          </p:cNvPr>
          <p:cNvGraphicFramePr>
            <a:graphicFrameLocks noGrp="1"/>
          </p:cNvGraphicFramePr>
          <p:nvPr>
            <p:ph idx="1"/>
            <p:extLst>
              <p:ext uri="{D42A27DB-BD31-4B8C-83A1-F6EECF244321}">
                <p14:modId xmlns:p14="http://schemas.microsoft.com/office/powerpoint/2010/main" val="3900479662"/>
              </p:ext>
            </p:extLst>
          </p:nvPr>
        </p:nvGraphicFramePr>
        <p:xfrm>
          <a:off x="5394525" y="800100"/>
          <a:ext cx="6154008"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213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51CC-B56B-0835-F4AE-2F5653D187DF}"/>
              </a:ext>
            </a:extLst>
          </p:cNvPr>
          <p:cNvSpPr>
            <a:spLocks noGrp="1"/>
          </p:cNvSpPr>
          <p:nvPr>
            <p:ph type="title"/>
          </p:nvPr>
        </p:nvSpPr>
        <p:spPr>
          <a:xfrm>
            <a:off x="815879" y="819016"/>
            <a:ext cx="4476807" cy="1188720"/>
          </a:xfrm>
        </p:spPr>
        <p:txBody>
          <a:bodyPr>
            <a:normAutofit/>
          </a:bodyPr>
          <a:lstStyle/>
          <a:p>
            <a:r>
              <a:rPr lang="en-IN"/>
              <a:t>Typical Designs of Flow Cell</a:t>
            </a:r>
            <a:endParaRPr lang="en-IN" dirty="0"/>
          </a:p>
        </p:txBody>
      </p:sp>
      <p:sp>
        <p:nvSpPr>
          <p:cNvPr id="3" name="Content Placeholder 2">
            <a:extLst>
              <a:ext uri="{FF2B5EF4-FFF2-40B4-BE49-F238E27FC236}">
                <a16:creationId xmlns:a16="http://schemas.microsoft.com/office/drawing/2014/main" id="{8738F647-CF5C-CBBB-FD4F-2EB947711347}"/>
              </a:ext>
            </a:extLst>
          </p:cNvPr>
          <p:cNvSpPr>
            <a:spLocks noGrp="1"/>
          </p:cNvSpPr>
          <p:nvPr>
            <p:ph idx="1"/>
          </p:nvPr>
        </p:nvSpPr>
        <p:spPr>
          <a:xfrm>
            <a:off x="522515" y="2362199"/>
            <a:ext cx="5159828" cy="4016831"/>
          </a:xfrm>
        </p:spPr>
        <p:txBody>
          <a:bodyPr vert="horz" lIns="91440" tIns="45720" rIns="91440" bIns="45720" rtlCol="0" anchor="t">
            <a:normAutofit/>
          </a:bodyPr>
          <a:lstStyle/>
          <a:p>
            <a:pPr marL="0" indent="0">
              <a:buNone/>
            </a:pPr>
            <a:r>
              <a:rPr lang="en-US" sz="2200" dirty="0"/>
              <a:t>Flow cells have vast array of designs, but four most common systems include[2]</a:t>
            </a:r>
          </a:p>
          <a:p>
            <a:pPr marL="342265" indent="-342265">
              <a:buFont typeface="+mj-lt"/>
              <a:buAutoNum type="alphaUcPeriod"/>
            </a:pPr>
            <a:r>
              <a:rPr lang="en-US" sz="2000" dirty="0"/>
              <a:t>Impinging jet directly onto the sensor surface.</a:t>
            </a:r>
          </a:p>
          <a:p>
            <a:pPr marL="342265" indent="-342265">
              <a:buAutoNum type="alphaUcPeriod"/>
            </a:pPr>
            <a:r>
              <a:rPr lang="en-US" sz="2000" dirty="0"/>
              <a:t>Channel flow with embedded sensor.</a:t>
            </a:r>
          </a:p>
          <a:p>
            <a:pPr marL="342265" indent="-342265">
              <a:buAutoNum type="alphaUcPeriod"/>
            </a:pPr>
            <a:r>
              <a:rPr lang="en-US" sz="2000" dirty="0"/>
              <a:t>Impinging jet delivering with channel flow over embedded sensor.</a:t>
            </a:r>
          </a:p>
          <a:p>
            <a:pPr marL="342265" indent="-342265">
              <a:buFont typeface="+mj-lt"/>
              <a:buAutoNum type="alphaUcPeriod"/>
            </a:pPr>
            <a:r>
              <a:rPr lang="en-US" sz="2000" dirty="0"/>
              <a:t>Injection into a flowing carrier channel flow.</a:t>
            </a:r>
          </a:p>
        </p:txBody>
      </p:sp>
      <p:sp>
        <p:nvSpPr>
          <p:cNvPr id="9" name="Rectangle 8">
            <a:extLst>
              <a:ext uri="{FF2B5EF4-FFF2-40B4-BE49-F238E27FC236}">
                <a16:creationId xmlns:a16="http://schemas.microsoft.com/office/drawing/2014/main" id="{56533F40-045E-4E3D-9243-864CD4E58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3605" y="964695"/>
            <a:ext cx="5440680" cy="4936559"/>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0402EC6-D845-41B3-BEBE-CB34D9BFE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0702" y="1128683"/>
            <a:ext cx="5106493"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B993B73-2847-4144-C5C1-78670EBBB2F7}"/>
              </a:ext>
            </a:extLst>
          </p:cNvPr>
          <p:cNvPicPr>
            <a:picLocks noChangeAspect="1"/>
          </p:cNvPicPr>
          <p:nvPr/>
        </p:nvPicPr>
        <p:blipFill rotWithShape="1">
          <a:blip r:embed="rId3">
            <a:alphaModFix/>
          </a:blip>
          <a:srcRect l="9448" r="9681"/>
          <a:stretch/>
        </p:blipFill>
        <p:spPr>
          <a:xfrm>
            <a:off x="6110702" y="1664463"/>
            <a:ext cx="5093780" cy="3338312"/>
          </a:xfrm>
          <a:prstGeom prst="rect">
            <a:avLst/>
          </a:prstGeom>
          <a:noFill/>
        </p:spPr>
      </p:pic>
      <p:sp>
        <p:nvSpPr>
          <p:cNvPr id="6" name="TextBox 5">
            <a:extLst>
              <a:ext uri="{FF2B5EF4-FFF2-40B4-BE49-F238E27FC236}">
                <a16:creationId xmlns:a16="http://schemas.microsoft.com/office/drawing/2014/main" id="{B92F7272-51EE-8096-C58D-836AC72A422D}"/>
              </a:ext>
            </a:extLst>
          </p:cNvPr>
          <p:cNvSpPr txBox="1"/>
          <p:nvPr/>
        </p:nvSpPr>
        <p:spPr>
          <a:xfrm>
            <a:off x="6333262" y="5002775"/>
            <a:ext cx="4764509" cy="307777"/>
          </a:xfrm>
          <a:prstGeom prst="rect">
            <a:avLst/>
          </a:prstGeom>
          <a:noFill/>
        </p:spPr>
        <p:txBody>
          <a:bodyPr wrap="none" rtlCol="0">
            <a:spAutoFit/>
          </a:bodyPr>
          <a:lstStyle/>
          <a:p>
            <a:r>
              <a:rPr lang="en-US" sz="1400" dirty="0"/>
              <a:t>Fig3. Schematic plan view of laminar flow in an open channel[2]</a:t>
            </a:r>
            <a:endParaRPr lang="en-IN" sz="1400" dirty="0"/>
          </a:p>
        </p:txBody>
      </p:sp>
    </p:spTree>
    <p:extLst>
      <p:ext uri="{BB962C8B-B14F-4D97-AF65-F5344CB8AC3E}">
        <p14:creationId xmlns:p14="http://schemas.microsoft.com/office/powerpoint/2010/main" val="381245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0"/>
          </a:schemeClr>
        </a:solidFill>
        <a:effectLst/>
      </p:bgPr>
    </p:bg>
    <p:spTree>
      <p:nvGrpSpPr>
        <p:cNvPr id="1" name=""/>
        <p:cNvGrpSpPr/>
        <p:nvPr/>
      </p:nvGrpSpPr>
      <p:grpSpPr>
        <a:xfrm>
          <a:off x="0" y="0"/>
          <a:ext cx="0" cy="0"/>
          <a:chOff x="0" y="0"/>
          <a:chExt cx="0" cy="0"/>
        </a:xfrm>
      </p:grpSpPr>
      <p:sp useBgFill="1">
        <p:nvSpPr>
          <p:cNvPr id="23" name="Rectangle 15">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7">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44653"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1FFE3D-0405-2A70-761D-81AEC052BD43}"/>
              </a:ext>
            </a:extLst>
          </p:cNvPr>
          <p:cNvSpPr>
            <a:spLocks noGrp="1"/>
          </p:cNvSpPr>
          <p:nvPr>
            <p:ph type="title"/>
          </p:nvPr>
        </p:nvSpPr>
        <p:spPr>
          <a:xfrm>
            <a:off x="643467" y="643467"/>
            <a:ext cx="6242719" cy="1728044"/>
          </a:xfrm>
          <a:noFill/>
          <a:ln>
            <a:solidFill>
              <a:schemeClr val="bg1"/>
            </a:solidFill>
          </a:ln>
        </p:spPr>
        <p:txBody>
          <a:bodyPr wrap="square">
            <a:normAutofit/>
          </a:bodyPr>
          <a:lstStyle/>
          <a:p>
            <a:r>
              <a:rPr lang="en-IN" dirty="0">
                <a:solidFill>
                  <a:schemeClr val="bg1"/>
                </a:solidFill>
              </a:rPr>
              <a:t>Flow Properties</a:t>
            </a:r>
          </a:p>
        </p:txBody>
      </p:sp>
      <p:sp>
        <p:nvSpPr>
          <p:cNvPr id="25" name="Content Placeholder 12">
            <a:extLst>
              <a:ext uri="{FF2B5EF4-FFF2-40B4-BE49-F238E27FC236}">
                <a16:creationId xmlns:a16="http://schemas.microsoft.com/office/drawing/2014/main" id="{4DAD2E2A-98BA-9CFB-66EA-1530DE8877BE}"/>
              </a:ext>
            </a:extLst>
          </p:cNvPr>
          <p:cNvSpPr>
            <a:spLocks noGrp="1"/>
          </p:cNvSpPr>
          <p:nvPr>
            <p:ph idx="1"/>
          </p:nvPr>
        </p:nvSpPr>
        <p:spPr>
          <a:xfrm>
            <a:off x="880232" y="2906944"/>
            <a:ext cx="5784189" cy="3415623"/>
          </a:xfrm>
        </p:spPr>
        <p:txBody>
          <a:bodyPr>
            <a:normAutofit/>
          </a:bodyPr>
          <a:lstStyle/>
          <a:p>
            <a:r>
              <a:rPr lang="en-US" sz="2000" dirty="0">
                <a:solidFill>
                  <a:schemeClr val="bg1"/>
                </a:solidFill>
              </a:rPr>
              <a:t>Flow is Laminar, Incompressible</a:t>
            </a:r>
          </a:p>
          <a:p>
            <a:r>
              <a:rPr lang="en-US" sz="2000" dirty="0">
                <a:solidFill>
                  <a:schemeClr val="bg1"/>
                </a:solidFill>
              </a:rPr>
              <a:t>Any flow with Reynolds number &lt;=2000 is Laminar.</a:t>
            </a:r>
          </a:p>
          <a:p>
            <a:r>
              <a:rPr lang="en-US" sz="2000" dirty="0">
                <a:solidFill>
                  <a:schemeClr val="bg1"/>
                </a:solidFill>
              </a:rPr>
              <a:t>For study Re=</a:t>
            </a:r>
            <a:r>
              <a:rPr lang="en-US" sz="2000" dirty="0">
                <a:solidFill>
                  <a:schemeClr val="bg1"/>
                </a:solidFill>
                <a:latin typeface="Abadi" panose="020B0604020104020204" pitchFamily="34" charset="0"/>
              </a:rPr>
              <a:t>1</a:t>
            </a:r>
          </a:p>
          <a:p>
            <a:r>
              <a:rPr lang="en-US" sz="2000" dirty="0">
                <a:solidFill>
                  <a:schemeClr val="bg1"/>
                </a:solidFill>
              </a:rPr>
              <a:t>Volumetric flow rate= 0.1-5 mL/min,  For study, 1mL/min flow rate is taken</a:t>
            </a:r>
          </a:p>
          <a:p>
            <a:r>
              <a:rPr lang="en-US" sz="2000" dirty="0">
                <a:solidFill>
                  <a:schemeClr val="bg1"/>
                </a:solidFill>
              </a:rPr>
              <a:t>Physical properties of fluid is of  Water</a:t>
            </a:r>
          </a:p>
          <a:p>
            <a:r>
              <a:rPr lang="en-US" sz="2000" dirty="0">
                <a:solidFill>
                  <a:schemeClr val="bg1"/>
                </a:solidFill>
              </a:rPr>
              <a:t>Diffusion coefficient is 5e-10 m^2/s </a:t>
            </a:r>
          </a:p>
          <a:p>
            <a:endParaRPr lang="en-US" sz="2400" dirty="0">
              <a:solidFill>
                <a:schemeClr val="bg1"/>
              </a:solidFill>
            </a:endParaRPr>
          </a:p>
        </p:txBody>
      </p:sp>
      <p:pic>
        <p:nvPicPr>
          <p:cNvPr id="7" name="Content Placeholder 6" descr="Diagram&#10;&#10;Description automatically generated">
            <a:extLst>
              <a:ext uri="{FF2B5EF4-FFF2-40B4-BE49-F238E27FC236}">
                <a16:creationId xmlns:a16="http://schemas.microsoft.com/office/drawing/2014/main" id="{96B23043-FDBF-8922-F4ED-18AED10D4FAA}"/>
              </a:ext>
            </a:extLst>
          </p:cNvPr>
          <p:cNvPicPr>
            <a:picLocks noChangeAspect="1"/>
          </p:cNvPicPr>
          <p:nvPr/>
        </p:nvPicPr>
        <p:blipFill>
          <a:blip r:embed="rId3"/>
          <a:stretch>
            <a:fillRect/>
          </a:stretch>
        </p:blipFill>
        <p:spPr>
          <a:xfrm>
            <a:off x="7544653" y="171474"/>
            <a:ext cx="4647348" cy="2091307"/>
          </a:xfrm>
          <a:prstGeom prst="rect">
            <a:avLst/>
          </a:prstGeom>
        </p:spPr>
      </p:pic>
      <p:pic>
        <p:nvPicPr>
          <p:cNvPr id="12" name="Content Placeholder 2">
            <a:extLst>
              <a:ext uri="{FF2B5EF4-FFF2-40B4-BE49-F238E27FC236}">
                <a16:creationId xmlns:a16="http://schemas.microsoft.com/office/drawing/2014/main" id="{307C5703-FAED-C914-7BB4-82BEE0B0CF33}"/>
              </a:ext>
            </a:extLst>
          </p:cNvPr>
          <p:cNvPicPr>
            <a:picLocks noChangeAspect="1"/>
          </p:cNvPicPr>
          <p:nvPr/>
        </p:nvPicPr>
        <p:blipFill>
          <a:blip r:embed="rId4"/>
          <a:stretch>
            <a:fillRect/>
          </a:stretch>
        </p:blipFill>
        <p:spPr>
          <a:xfrm>
            <a:off x="7544649" y="4648686"/>
            <a:ext cx="3458662" cy="883561"/>
          </a:xfrm>
          <a:prstGeom prst="rect">
            <a:avLst/>
          </a:prstGeom>
        </p:spPr>
      </p:pic>
      <p:graphicFrame>
        <p:nvGraphicFramePr>
          <p:cNvPr id="3" name="Diagram 2">
            <a:extLst>
              <a:ext uri="{FF2B5EF4-FFF2-40B4-BE49-F238E27FC236}">
                <a16:creationId xmlns:a16="http://schemas.microsoft.com/office/drawing/2014/main" id="{B5EB1E4B-12A1-A683-D310-FADC36C541A5}"/>
              </a:ext>
            </a:extLst>
          </p:cNvPr>
          <p:cNvGraphicFramePr/>
          <p:nvPr>
            <p:extLst>
              <p:ext uri="{D42A27DB-BD31-4B8C-83A1-F6EECF244321}">
                <p14:modId xmlns:p14="http://schemas.microsoft.com/office/powerpoint/2010/main" val="1782226173"/>
              </p:ext>
            </p:extLst>
          </p:nvPr>
        </p:nvGraphicFramePr>
        <p:xfrm>
          <a:off x="8072184" y="2460367"/>
          <a:ext cx="3592287" cy="166628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3" name="Picture 12">
            <a:extLst>
              <a:ext uri="{FF2B5EF4-FFF2-40B4-BE49-F238E27FC236}">
                <a16:creationId xmlns:a16="http://schemas.microsoft.com/office/drawing/2014/main" id="{8B43A7F0-1D3E-2354-155A-C0AB054F3839}"/>
              </a:ext>
            </a:extLst>
          </p:cNvPr>
          <p:cNvPicPr>
            <a:picLocks noChangeAspect="1"/>
          </p:cNvPicPr>
          <p:nvPr/>
        </p:nvPicPr>
        <p:blipFill>
          <a:blip r:embed="rId10"/>
          <a:stretch>
            <a:fillRect/>
          </a:stretch>
        </p:blipFill>
        <p:spPr>
          <a:xfrm>
            <a:off x="8654144" y="5691631"/>
            <a:ext cx="3167166" cy="1163380"/>
          </a:xfrm>
          <a:prstGeom prst="rect">
            <a:avLst/>
          </a:prstGeom>
        </p:spPr>
      </p:pic>
      <p:cxnSp>
        <p:nvCxnSpPr>
          <p:cNvPr id="14" name="Straight Arrow Connector 13">
            <a:extLst>
              <a:ext uri="{FF2B5EF4-FFF2-40B4-BE49-F238E27FC236}">
                <a16:creationId xmlns:a16="http://schemas.microsoft.com/office/drawing/2014/main" id="{112F1B18-50ED-875E-033E-0CCB4B2414AE}"/>
              </a:ext>
            </a:extLst>
          </p:cNvPr>
          <p:cNvCxnSpPr>
            <a:cxnSpLocks/>
          </p:cNvCxnSpPr>
          <p:nvPr/>
        </p:nvCxnSpPr>
        <p:spPr>
          <a:xfrm flipH="1">
            <a:off x="8733085" y="4126650"/>
            <a:ext cx="244251" cy="6340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A70C0CFB-3D3B-F143-0312-63B03F5F0C27}"/>
              </a:ext>
            </a:extLst>
          </p:cNvPr>
          <p:cNvCxnSpPr>
            <a:cxnSpLocks/>
          </p:cNvCxnSpPr>
          <p:nvPr/>
        </p:nvCxnSpPr>
        <p:spPr>
          <a:xfrm>
            <a:off x="10791018" y="4160570"/>
            <a:ext cx="198156" cy="1443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FD7916FF-5B6A-DD10-8B8A-CD56526DE738}"/>
              </a:ext>
            </a:extLst>
          </p:cNvPr>
          <p:cNvSpPr txBox="1"/>
          <p:nvPr/>
        </p:nvSpPr>
        <p:spPr>
          <a:xfrm>
            <a:off x="7885360" y="2108893"/>
            <a:ext cx="4378058" cy="307777"/>
          </a:xfrm>
          <a:prstGeom prst="rect">
            <a:avLst/>
          </a:prstGeom>
          <a:noFill/>
        </p:spPr>
        <p:txBody>
          <a:bodyPr wrap="none" rtlCol="0">
            <a:spAutoFit/>
          </a:bodyPr>
          <a:lstStyle/>
          <a:p>
            <a:r>
              <a:rPr lang="en-IN" sz="1400" dirty="0"/>
              <a:t>Fig4 : Formation of edge eddies  in expanded tube flow[2]</a:t>
            </a:r>
          </a:p>
        </p:txBody>
      </p:sp>
      <p:sp>
        <p:nvSpPr>
          <p:cNvPr id="5" name="TextBox 4">
            <a:extLst>
              <a:ext uri="{FF2B5EF4-FFF2-40B4-BE49-F238E27FC236}">
                <a16:creationId xmlns:a16="http://schemas.microsoft.com/office/drawing/2014/main" id="{2B1E237C-609C-E9A7-85A9-3E7D446D5547}"/>
              </a:ext>
            </a:extLst>
          </p:cNvPr>
          <p:cNvSpPr txBox="1"/>
          <p:nvPr/>
        </p:nvSpPr>
        <p:spPr>
          <a:xfrm>
            <a:off x="7464216" y="23389"/>
            <a:ext cx="1447800" cy="584775"/>
          </a:xfrm>
          <a:prstGeom prst="rect">
            <a:avLst/>
          </a:prstGeom>
          <a:noFill/>
        </p:spPr>
        <p:txBody>
          <a:bodyPr wrap="square" rtlCol="0">
            <a:spAutoFit/>
          </a:bodyPr>
          <a:lstStyle/>
          <a:p>
            <a:r>
              <a:rPr lang="en-US" sz="1600" b="1" dirty="0">
                <a:solidFill>
                  <a:srgbClr val="C00000"/>
                </a:solidFill>
              </a:rPr>
              <a:t>Closed edge eddies </a:t>
            </a:r>
            <a:endParaRPr lang="en-IN" sz="1600" b="1" dirty="0">
              <a:solidFill>
                <a:srgbClr val="C00000"/>
              </a:solidFill>
            </a:endParaRPr>
          </a:p>
        </p:txBody>
      </p:sp>
      <p:cxnSp>
        <p:nvCxnSpPr>
          <p:cNvPr id="8" name="Straight Arrow Connector 7">
            <a:extLst>
              <a:ext uri="{FF2B5EF4-FFF2-40B4-BE49-F238E27FC236}">
                <a16:creationId xmlns:a16="http://schemas.microsoft.com/office/drawing/2014/main" id="{D5BA6D0C-0472-7635-4DF0-25AEC2085E4F}"/>
              </a:ext>
            </a:extLst>
          </p:cNvPr>
          <p:cNvCxnSpPr/>
          <p:nvPr/>
        </p:nvCxnSpPr>
        <p:spPr>
          <a:xfrm>
            <a:off x="8335506" y="422427"/>
            <a:ext cx="990600" cy="9797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288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31136" y="467419"/>
            <a:ext cx="7729728" cy="1188720"/>
          </a:xfrm>
          <a:solidFill>
            <a:srgbClr val="FFFFFF"/>
          </a:solidFill>
        </p:spPr>
        <p:txBody>
          <a:bodyPr>
            <a:normAutofit/>
          </a:bodyPr>
          <a:lstStyle/>
          <a:p>
            <a:r>
              <a:rPr lang="en-US" dirty="0">
                <a:solidFill>
                  <a:srgbClr val="404040"/>
                </a:solidFill>
              </a:rPr>
              <a:t>Numerical Mode</a:t>
            </a:r>
            <a:r>
              <a:rPr lang="en-IN" dirty="0">
                <a:solidFill>
                  <a:srgbClr val="404040"/>
                </a:solidFill>
              </a:rPr>
              <a:t>L Study</a:t>
            </a:r>
            <a:endParaRPr lang="en-US" dirty="0">
              <a:solidFill>
                <a:srgbClr val="404040"/>
              </a:solidFill>
            </a:endParaRPr>
          </a:p>
        </p:txBody>
      </p:sp>
      <p:pic>
        <p:nvPicPr>
          <p:cNvPr id="8" name="Content Placeholder 5" descr="Text&#10;&#10;Description automatically generated with low confidence">
            <a:extLst>
              <a:ext uri="{FF2B5EF4-FFF2-40B4-BE49-F238E27FC236}">
                <a16:creationId xmlns:a16="http://schemas.microsoft.com/office/drawing/2014/main" id="{1AF6994F-976F-38B5-75E6-DBE278CD6F02}"/>
              </a:ext>
            </a:extLst>
          </p:cNvPr>
          <p:cNvPicPr>
            <a:picLocks noGrp="1" noChangeAspect="1"/>
          </p:cNvPicPr>
          <p:nvPr>
            <p:ph idx="1"/>
          </p:nvPr>
        </p:nvPicPr>
        <p:blipFill>
          <a:blip r:embed="rId2"/>
          <a:stretch>
            <a:fillRect/>
          </a:stretch>
        </p:blipFill>
        <p:spPr>
          <a:xfrm>
            <a:off x="1606363" y="4223348"/>
            <a:ext cx="4587932" cy="866486"/>
          </a:xfrm>
        </p:spPr>
      </p:pic>
      <p:sp>
        <p:nvSpPr>
          <p:cNvPr id="5" name="TextBox 4">
            <a:extLst>
              <a:ext uri="{FF2B5EF4-FFF2-40B4-BE49-F238E27FC236}">
                <a16:creationId xmlns:a16="http://schemas.microsoft.com/office/drawing/2014/main" id="{6D021138-21D8-775B-83B5-509E94202E72}"/>
              </a:ext>
            </a:extLst>
          </p:cNvPr>
          <p:cNvSpPr txBox="1"/>
          <p:nvPr/>
        </p:nvSpPr>
        <p:spPr>
          <a:xfrm>
            <a:off x="2333425" y="5020437"/>
            <a:ext cx="3374257" cy="338554"/>
          </a:xfrm>
          <a:prstGeom prst="rect">
            <a:avLst/>
          </a:prstGeom>
          <a:noFill/>
        </p:spPr>
        <p:txBody>
          <a:bodyPr wrap="none" rtlCol="0">
            <a:spAutoFit/>
          </a:bodyPr>
          <a:lstStyle/>
          <a:p>
            <a:r>
              <a:rPr lang="en-IN" sz="1600" dirty="0"/>
              <a:t>Equation to Calculate flow variance[5]</a:t>
            </a:r>
          </a:p>
        </p:txBody>
      </p:sp>
      <p:graphicFrame>
        <p:nvGraphicFramePr>
          <p:cNvPr id="7" name="Diagram 6">
            <a:extLst>
              <a:ext uri="{FF2B5EF4-FFF2-40B4-BE49-F238E27FC236}">
                <a16:creationId xmlns:a16="http://schemas.microsoft.com/office/drawing/2014/main" id="{95A25A85-FE15-D973-9C91-7012E9437ED3}"/>
              </a:ext>
            </a:extLst>
          </p:cNvPr>
          <p:cNvGraphicFramePr/>
          <p:nvPr>
            <p:extLst>
              <p:ext uri="{D42A27DB-BD31-4B8C-83A1-F6EECF244321}">
                <p14:modId xmlns:p14="http://schemas.microsoft.com/office/powerpoint/2010/main" val="1158552704"/>
              </p:ext>
            </p:extLst>
          </p:nvPr>
        </p:nvGraphicFramePr>
        <p:xfrm>
          <a:off x="1487282" y="234741"/>
          <a:ext cx="9414026" cy="4361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072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7" grpId="1">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5" name="Rectangle 11">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816FFB7-E1CF-C7BA-B235-DEE1EB0D45BC}"/>
              </a:ext>
            </a:extLst>
          </p:cNvPr>
          <p:cNvPicPr>
            <a:picLocks noChangeAspect="1"/>
          </p:cNvPicPr>
          <p:nvPr/>
        </p:nvPicPr>
        <p:blipFill rotWithShape="1">
          <a:blip r:embed="rId3"/>
          <a:srcRect r="34445" b="1"/>
          <a:stretch/>
        </p:blipFill>
        <p:spPr>
          <a:xfrm>
            <a:off x="4649234" y="10"/>
            <a:ext cx="3775438" cy="2634800"/>
          </a:xfrm>
          <a:prstGeom prst="rect">
            <a:avLst/>
          </a:prstGeom>
        </p:spPr>
      </p:pic>
      <p:pic>
        <p:nvPicPr>
          <p:cNvPr id="7" name="Picture 6">
            <a:extLst>
              <a:ext uri="{FF2B5EF4-FFF2-40B4-BE49-F238E27FC236}">
                <a16:creationId xmlns:a16="http://schemas.microsoft.com/office/drawing/2014/main" id="{0F77708E-E751-7951-1ED2-4437D46AD641}"/>
              </a:ext>
            </a:extLst>
          </p:cNvPr>
          <p:cNvPicPr>
            <a:picLocks noChangeAspect="1"/>
          </p:cNvPicPr>
          <p:nvPr/>
        </p:nvPicPr>
        <p:blipFill rotWithShape="1">
          <a:blip r:embed="rId4"/>
          <a:srcRect l="1422" t="3455" r="18765" b="-3457"/>
          <a:stretch/>
        </p:blipFill>
        <p:spPr>
          <a:xfrm>
            <a:off x="4649234" y="2634810"/>
            <a:ext cx="7537702" cy="4212708"/>
          </a:xfrm>
          <a:prstGeom prst="rect">
            <a:avLst/>
          </a:prstGeom>
        </p:spPr>
      </p:pic>
      <p:sp>
        <p:nvSpPr>
          <p:cNvPr id="17"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6898" y="610810"/>
            <a:ext cx="3775438" cy="1728044"/>
          </a:xfrm>
          <a:noFill/>
          <a:ln>
            <a:solidFill>
              <a:schemeClr val="bg1"/>
            </a:solidFill>
          </a:ln>
        </p:spPr>
        <p:txBody>
          <a:bodyPr wrap="square">
            <a:normAutofit/>
          </a:bodyPr>
          <a:lstStyle/>
          <a:p>
            <a:r>
              <a:rPr lang="en-US" sz="2400" dirty="0">
                <a:solidFill>
                  <a:schemeClr val="bg1"/>
                </a:solidFill>
              </a:rPr>
              <a:t>Design Implementations</a:t>
            </a:r>
          </a:p>
        </p:txBody>
      </p:sp>
      <p:sp>
        <p:nvSpPr>
          <p:cNvPr id="3" name="Content Placeholder 2"/>
          <p:cNvSpPr>
            <a:spLocks noGrp="1"/>
          </p:cNvSpPr>
          <p:nvPr>
            <p:ph idx="1"/>
          </p:nvPr>
        </p:nvSpPr>
        <p:spPr>
          <a:xfrm>
            <a:off x="436899" y="2638044"/>
            <a:ext cx="3862958" cy="3415622"/>
          </a:xfrm>
        </p:spPr>
        <p:txBody>
          <a:bodyPr>
            <a:normAutofit lnSpcReduction="10000"/>
          </a:bodyPr>
          <a:lstStyle/>
          <a:p>
            <a:pPr marL="342891" indent="-342891">
              <a:buFont typeface="+mj-lt"/>
              <a:buAutoNum type="arabicPeriod"/>
            </a:pPr>
            <a:r>
              <a:rPr lang="en-IN" sz="2000" dirty="0">
                <a:solidFill>
                  <a:schemeClr val="bg1"/>
                </a:solidFill>
              </a:rPr>
              <a:t>Change in distance between inlets</a:t>
            </a:r>
          </a:p>
          <a:p>
            <a:pPr marL="342891" indent="-342891">
              <a:buFont typeface="+mj-lt"/>
              <a:buAutoNum type="arabicPeriod"/>
            </a:pPr>
            <a:r>
              <a:rPr lang="en-IN" sz="2000" dirty="0">
                <a:solidFill>
                  <a:schemeClr val="bg1"/>
                </a:solidFill>
              </a:rPr>
              <a:t>Adding cylindrical blocks barriers in mixing tube.</a:t>
            </a:r>
          </a:p>
          <a:p>
            <a:pPr marL="342891" indent="-342891">
              <a:buFont typeface="+mj-lt"/>
              <a:buAutoNum type="arabicPeriod"/>
            </a:pPr>
            <a:r>
              <a:rPr lang="en-IN" sz="2000" dirty="0">
                <a:solidFill>
                  <a:schemeClr val="bg1"/>
                </a:solidFill>
              </a:rPr>
              <a:t>Adding square blocks barriers in mixing tube.</a:t>
            </a:r>
          </a:p>
          <a:p>
            <a:pPr marL="342891" indent="-342891">
              <a:buFont typeface="+mj-lt"/>
              <a:buAutoNum type="arabicPeriod"/>
            </a:pPr>
            <a:r>
              <a:rPr lang="en-IN" sz="2000" dirty="0">
                <a:solidFill>
                  <a:schemeClr val="bg1"/>
                </a:solidFill>
              </a:rPr>
              <a:t>Adding  parallelogram barriers in mixing tube.</a:t>
            </a:r>
          </a:p>
          <a:p>
            <a:pPr marL="342891" indent="-342891">
              <a:buFont typeface="+mj-lt"/>
              <a:buAutoNum type="arabicPeriod"/>
            </a:pPr>
            <a:r>
              <a:rPr lang="en-IN" sz="2000" dirty="0">
                <a:solidFill>
                  <a:schemeClr val="bg1"/>
                </a:solidFill>
              </a:rPr>
              <a:t>Implementing 3D zig zag mixer geometry.</a:t>
            </a:r>
            <a:endParaRPr lang="en-IN" dirty="0">
              <a:solidFill>
                <a:schemeClr val="bg1"/>
              </a:solidFill>
            </a:endParaRPr>
          </a:p>
          <a:p>
            <a:pPr marL="342891" indent="-342891">
              <a:buFont typeface="+mj-lt"/>
              <a:buAutoNum type="arabicPeriod"/>
            </a:pPr>
            <a:endParaRPr lang="en-IN" dirty="0">
              <a:solidFill>
                <a:schemeClr val="bg1"/>
              </a:solidFill>
            </a:endParaRPr>
          </a:p>
          <a:p>
            <a:endParaRPr lang="en-IN" dirty="0">
              <a:solidFill>
                <a:schemeClr val="bg1"/>
              </a:solidFill>
            </a:endParaRPr>
          </a:p>
        </p:txBody>
      </p:sp>
      <p:pic>
        <p:nvPicPr>
          <p:cNvPr id="6" name="Picture 5">
            <a:extLst>
              <a:ext uri="{FF2B5EF4-FFF2-40B4-BE49-F238E27FC236}">
                <a16:creationId xmlns:a16="http://schemas.microsoft.com/office/drawing/2014/main" id="{BEC022D9-5E46-5E15-B5E5-F378FABDFFF3}"/>
              </a:ext>
            </a:extLst>
          </p:cNvPr>
          <p:cNvPicPr>
            <a:picLocks noChangeAspect="1"/>
          </p:cNvPicPr>
          <p:nvPr/>
        </p:nvPicPr>
        <p:blipFill rotWithShape="1">
          <a:blip r:embed="rId5"/>
          <a:srcRect r="36470" b="-1"/>
          <a:stretch/>
        </p:blipFill>
        <p:spPr>
          <a:xfrm>
            <a:off x="8424672" y="10"/>
            <a:ext cx="3776472" cy="2645284"/>
          </a:xfrm>
          <a:prstGeom prst="rect">
            <a:avLst/>
          </a:prstGeom>
        </p:spPr>
      </p:pic>
    </p:spTree>
    <p:extLst>
      <p:ext uri="{BB962C8B-B14F-4D97-AF65-F5344CB8AC3E}">
        <p14:creationId xmlns:p14="http://schemas.microsoft.com/office/powerpoint/2010/main" val="1994887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80613" y="204320"/>
            <a:ext cx="4256314" cy="1189038"/>
          </a:xfrm>
          <a:solidFill>
            <a:srgbClr val="FFFFFF"/>
          </a:solidFill>
        </p:spPr>
        <p:txBody>
          <a:bodyPr>
            <a:normAutofit/>
          </a:bodyPr>
          <a:lstStyle/>
          <a:p>
            <a:r>
              <a:rPr lang="en-US" dirty="0">
                <a:solidFill>
                  <a:srgbClr val="404040"/>
                </a:solidFill>
              </a:rPr>
              <a:t>Results</a:t>
            </a:r>
          </a:p>
        </p:txBody>
      </p:sp>
      <p:sp>
        <p:nvSpPr>
          <p:cNvPr id="4" name="TextBox 3">
            <a:extLst>
              <a:ext uri="{FF2B5EF4-FFF2-40B4-BE49-F238E27FC236}">
                <a16:creationId xmlns:a16="http://schemas.microsoft.com/office/drawing/2014/main" id="{575AFCB6-279D-0AA3-B702-7D5452A3E3F5}"/>
              </a:ext>
            </a:extLst>
          </p:cNvPr>
          <p:cNvSpPr txBox="1"/>
          <p:nvPr/>
        </p:nvSpPr>
        <p:spPr>
          <a:xfrm>
            <a:off x="468143" y="324938"/>
            <a:ext cx="416354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For the base Geometry, To understand flow following results are of interest.</a:t>
            </a:r>
          </a:p>
          <a:p>
            <a:endParaRPr lang="en-US" dirty="0"/>
          </a:p>
          <a:p>
            <a:pPr marL="342900" indent="-342900">
              <a:buFont typeface="+mj-lt"/>
              <a:buAutoNum type="arabicPeriod"/>
            </a:pPr>
            <a:r>
              <a:rPr lang="en-US" dirty="0">
                <a:ea typeface="+mn-lt"/>
                <a:cs typeface="+mn-lt"/>
              </a:rPr>
              <a:t>Velocity profile</a:t>
            </a:r>
          </a:p>
          <a:p>
            <a:pPr marL="342900" indent="-342900">
              <a:buFont typeface="+mj-lt"/>
              <a:buAutoNum type="arabicPeriod"/>
            </a:pPr>
            <a:r>
              <a:rPr lang="en-US" dirty="0">
                <a:ea typeface="+mn-lt"/>
                <a:cs typeface="+mn-lt"/>
              </a:rPr>
              <a:t>Concentration profile </a:t>
            </a:r>
          </a:p>
          <a:p>
            <a:pPr marL="342900" indent="-342900">
              <a:buFont typeface="+mj-lt"/>
              <a:buAutoNum type="arabicPeriod"/>
            </a:pPr>
            <a:r>
              <a:rPr lang="en-US" dirty="0">
                <a:ea typeface="+mn-lt"/>
                <a:cs typeface="+mn-lt"/>
              </a:rPr>
              <a:t>Pressure drop maps</a:t>
            </a:r>
          </a:p>
          <a:p>
            <a:pPr marL="342900" indent="-342900">
              <a:buFont typeface="+mj-lt"/>
              <a:buAutoNum type="arabicPeriod"/>
            </a:pPr>
            <a:r>
              <a:rPr lang="en-US" dirty="0">
                <a:ea typeface="+mn-lt"/>
                <a:cs typeface="+mn-lt"/>
              </a:rPr>
              <a:t>Outlet concentration patterns</a:t>
            </a:r>
          </a:p>
          <a:p>
            <a:pPr marL="342900" indent="-342900">
              <a:buFont typeface="+mj-lt"/>
              <a:buAutoNum type="arabicPeriod"/>
            </a:pPr>
            <a:r>
              <a:rPr lang="en-IN" dirty="0"/>
              <a:t>Mixing index calculation</a:t>
            </a:r>
          </a:p>
          <a:p>
            <a:pPr marL="342900" indent="-342900">
              <a:buFont typeface="+mj-lt"/>
              <a:buAutoNum type="arabicPeriod"/>
            </a:pPr>
            <a:r>
              <a:rPr lang="en-IN" dirty="0"/>
              <a:t>Distance/Peclet number [      ]</a:t>
            </a:r>
            <a:endParaRPr lang="en-US" dirty="0"/>
          </a:p>
        </p:txBody>
      </p:sp>
      <p:pic>
        <p:nvPicPr>
          <p:cNvPr id="5" name="Picture 4">
            <a:extLst>
              <a:ext uri="{FF2B5EF4-FFF2-40B4-BE49-F238E27FC236}">
                <a16:creationId xmlns:a16="http://schemas.microsoft.com/office/drawing/2014/main" id="{0CDD1908-3813-30EC-39A8-6D40E335CBD8}"/>
              </a:ext>
            </a:extLst>
          </p:cNvPr>
          <p:cNvPicPr>
            <a:picLocks noChangeAspect="1"/>
          </p:cNvPicPr>
          <p:nvPr/>
        </p:nvPicPr>
        <p:blipFill>
          <a:blip r:embed="rId3"/>
          <a:stretch>
            <a:fillRect/>
          </a:stretch>
        </p:blipFill>
        <p:spPr>
          <a:xfrm>
            <a:off x="6137913" y="4262104"/>
            <a:ext cx="5502117" cy="2270957"/>
          </a:xfrm>
          <a:prstGeom prst="rect">
            <a:avLst/>
          </a:prstGeom>
        </p:spPr>
      </p:pic>
      <p:pic>
        <p:nvPicPr>
          <p:cNvPr id="6" name="Picture 5">
            <a:extLst>
              <a:ext uri="{FF2B5EF4-FFF2-40B4-BE49-F238E27FC236}">
                <a16:creationId xmlns:a16="http://schemas.microsoft.com/office/drawing/2014/main" id="{3CBA291C-7104-85E6-562A-02D62212D1D0}"/>
              </a:ext>
            </a:extLst>
          </p:cNvPr>
          <p:cNvPicPr>
            <a:picLocks noChangeAspect="1"/>
          </p:cNvPicPr>
          <p:nvPr/>
        </p:nvPicPr>
        <p:blipFill>
          <a:blip r:embed="rId4"/>
          <a:stretch>
            <a:fillRect/>
          </a:stretch>
        </p:blipFill>
        <p:spPr>
          <a:xfrm>
            <a:off x="119695" y="3187260"/>
            <a:ext cx="5669771" cy="2636748"/>
          </a:xfrm>
          <a:prstGeom prst="rect">
            <a:avLst/>
          </a:prstGeom>
        </p:spPr>
      </p:pic>
      <p:pic>
        <p:nvPicPr>
          <p:cNvPr id="7" name="Picture 6">
            <a:extLst>
              <a:ext uri="{FF2B5EF4-FFF2-40B4-BE49-F238E27FC236}">
                <a16:creationId xmlns:a16="http://schemas.microsoft.com/office/drawing/2014/main" id="{F762AF7D-404A-0911-96A3-90B19B2CD475}"/>
              </a:ext>
            </a:extLst>
          </p:cNvPr>
          <p:cNvPicPr>
            <a:picLocks noChangeAspect="1"/>
          </p:cNvPicPr>
          <p:nvPr/>
        </p:nvPicPr>
        <p:blipFill>
          <a:blip r:embed="rId5"/>
          <a:stretch>
            <a:fillRect/>
          </a:stretch>
        </p:blipFill>
        <p:spPr>
          <a:xfrm>
            <a:off x="6137913" y="1619200"/>
            <a:ext cx="5585944" cy="2537680"/>
          </a:xfrm>
          <a:prstGeom prst="rect">
            <a:avLst/>
          </a:prstGeom>
        </p:spPr>
      </p:pic>
      <p:pic>
        <p:nvPicPr>
          <p:cNvPr id="8" name="Picture 7">
            <a:extLst>
              <a:ext uri="{FF2B5EF4-FFF2-40B4-BE49-F238E27FC236}">
                <a16:creationId xmlns:a16="http://schemas.microsoft.com/office/drawing/2014/main" id="{5C57D5EF-A5C6-A998-CCF6-0746C5CB51E1}"/>
              </a:ext>
            </a:extLst>
          </p:cNvPr>
          <p:cNvPicPr>
            <a:picLocks noChangeAspect="1"/>
          </p:cNvPicPr>
          <p:nvPr/>
        </p:nvPicPr>
        <p:blipFill>
          <a:blip r:embed="rId6"/>
          <a:stretch>
            <a:fillRect/>
          </a:stretch>
        </p:blipFill>
        <p:spPr>
          <a:xfrm>
            <a:off x="671713" y="6308252"/>
            <a:ext cx="4290432" cy="449619"/>
          </a:xfrm>
          <a:prstGeom prst="rect">
            <a:avLst/>
          </a:prstGeom>
        </p:spPr>
      </p:pic>
      <p:sp>
        <p:nvSpPr>
          <p:cNvPr id="9" name="TextBox 8">
            <a:extLst>
              <a:ext uri="{FF2B5EF4-FFF2-40B4-BE49-F238E27FC236}">
                <a16:creationId xmlns:a16="http://schemas.microsoft.com/office/drawing/2014/main" id="{05709583-56F0-73D8-682C-A7EDDF3CE8B8}"/>
              </a:ext>
            </a:extLst>
          </p:cNvPr>
          <p:cNvSpPr txBox="1"/>
          <p:nvPr/>
        </p:nvSpPr>
        <p:spPr>
          <a:xfrm>
            <a:off x="6408770" y="4320968"/>
            <a:ext cx="1879745" cy="369332"/>
          </a:xfrm>
          <a:prstGeom prst="rect">
            <a:avLst/>
          </a:prstGeom>
          <a:noFill/>
        </p:spPr>
        <p:txBody>
          <a:bodyPr wrap="none" rtlCol="0">
            <a:spAutoFit/>
          </a:bodyPr>
          <a:lstStyle/>
          <a:p>
            <a:r>
              <a:rPr lang="en-US" dirty="0"/>
              <a:t>Eddies Formation</a:t>
            </a:r>
            <a:endParaRPr lang="en-IN" dirty="0"/>
          </a:p>
        </p:txBody>
      </p:sp>
      <p:cxnSp>
        <p:nvCxnSpPr>
          <p:cNvPr id="11" name="Straight Arrow Connector 10">
            <a:extLst>
              <a:ext uri="{FF2B5EF4-FFF2-40B4-BE49-F238E27FC236}">
                <a16:creationId xmlns:a16="http://schemas.microsoft.com/office/drawing/2014/main" id="{7D4E4487-F644-E25C-3A4E-19E13DE957DB}"/>
              </a:ext>
            </a:extLst>
          </p:cNvPr>
          <p:cNvCxnSpPr>
            <a:cxnSpLocks/>
          </p:cNvCxnSpPr>
          <p:nvPr/>
        </p:nvCxnSpPr>
        <p:spPr>
          <a:xfrm>
            <a:off x="7500257" y="4604657"/>
            <a:ext cx="141514" cy="2902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Oval 11">
            <a:extLst>
              <a:ext uri="{FF2B5EF4-FFF2-40B4-BE49-F238E27FC236}">
                <a16:creationId xmlns:a16="http://schemas.microsoft.com/office/drawing/2014/main" id="{6000BC40-55E2-068B-0154-53F18BD8AB9F}"/>
              </a:ext>
            </a:extLst>
          </p:cNvPr>
          <p:cNvSpPr/>
          <p:nvPr/>
        </p:nvSpPr>
        <p:spPr>
          <a:xfrm>
            <a:off x="7571014" y="4972581"/>
            <a:ext cx="283029" cy="185057"/>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4" name="TextBox 13">
            <a:extLst>
              <a:ext uri="{FF2B5EF4-FFF2-40B4-BE49-F238E27FC236}">
                <a16:creationId xmlns:a16="http://schemas.microsoft.com/office/drawing/2014/main" id="{66340DC3-D20F-2A16-CD61-FEAD3891D67C}"/>
              </a:ext>
            </a:extLst>
          </p:cNvPr>
          <p:cNvSpPr txBox="1"/>
          <p:nvPr/>
        </p:nvSpPr>
        <p:spPr>
          <a:xfrm>
            <a:off x="7884529" y="6163729"/>
            <a:ext cx="1810111" cy="338554"/>
          </a:xfrm>
          <a:prstGeom prst="rect">
            <a:avLst/>
          </a:prstGeom>
          <a:noFill/>
        </p:spPr>
        <p:txBody>
          <a:bodyPr wrap="none" rtlCol="0">
            <a:spAutoFit/>
          </a:bodyPr>
          <a:lstStyle/>
          <a:p>
            <a:r>
              <a:rPr lang="en-US" sz="1600" dirty="0"/>
              <a:t>Fig6. Velocity profile</a:t>
            </a:r>
            <a:endParaRPr lang="en-IN" sz="1600" dirty="0"/>
          </a:p>
        </p:txBody>
      </p:sp>
      <p:sp>
        <p:nvSpPr>
          <p:cNvPr id="15" name="TextBox 14">
            <a:extLst>
              <a:ext uri="{FF2B5EF4-FFF2-40B4-BE49-F238E27FC236}">
                <a16:creationId xmlns:a16="http://schemas.microsoft.com/office/drawing/2014/main" id="{AA2424CB-08D1-33FA-66FA-C2C40412E9D9}"/>
              </a:ext>
            </a:extLst>
          </p:cNvPr>
          <p:cNvSpPr txBox="1"/>
          <p:nvPr/>
        </p:nvSpPr>
        <p:spPr>
          <a:xfrm>
            <a:off x="7589300" y="3750928"/>
            <a:ext cx="2357825" cy="338554"/>
          </a:xfrm>
          <a:prstGeom prst="rect">
            <a:avLst/>
          </a:prstGeom>
          <a:noFill/>
        </p:spPr>
        <p:txBody>
          <a:bodyPr wrap="none" rtlCol="0">
            <a:spAutoFit/>
          </a:bodyPr>
          <a:lstStyle/>
          <a:p>
            <a:r>
              <a:rPr lang="en-US" sz="1600" dirty="0"/>
              <a:t>Fig5. Pressure drop profile</a:t>
            </a:r>
            <a:endParaRPr lang="en-IN" sz="1600" dirty="0"/>
          </a:p>
        </p:txBody>
      </p:sp>
      <p:sp>
        <p:nvSpPr>
          <p:cNvPr id="20" name="TextBox 19">
            <a:extLst>
              <a:ext uri="{FF2B5EF4-FFF2-40B4-BE49-F238E27FC236}">
                <a16:creationId xmlns:a16="http://schemas.microsoft.com/office/drawing/2014/main" id="{07159641-9889-FAAC-30FE-0C5893AD6CEC}"/>
              </a:ext>
            </a:extLst>
          </p:cNvPr>
          <p:cNvSpPr txBox="1"/>
          <p:nvPr/>
        </p:nvSpPr>
        <p:spPr>
          <a:xfrm>
            <a:off x="1269663" y="5794397"/>
            <a:ext cx="2964273" cy="338554"/>
          </a:xfrm>
          <a:prstGeom prst="rect">
            <a:avLst/>
          </a:prstGeom>
          <a:noFill/>
        </p:spPr>
        <p:txBody>
          <a:bodyPr wrap="none" rtlCol="0">
            <a:spAutoFit/>
          </a:bodyPr>
          <a:lstStyle/>
          <a:p>
            <a:r>
              <a:rPr lang="en-US" sz="1600" dirty="0"/>
              <a:t>Fig7. Outlet concentration profile</a:t>
            </a:r>
            <a:endParaRPr lang="en-IN" sz="1600" dirty="0"/>
          </a:p>
        </p:txBody>
      </p:sp>
      <p:pic>
        <p:nvPicPr>
          <p:cNvPr id="21" name="Picture 20">
            <a:extLst>
              <a:ext uri="{FF2B5EF4-FFF2-40B4-BE49-F238E27FC236}">
                <a16:creationId xmlns:a16="http://schemas.microsoft.com/office/drawing/2014/main" id="{B94FBC1D-BF23-798D-5C0D-77629F1BDC1B}"/>
              </a:ext>
            </a:extLst>
          </p:cNvPr>
          <p:cNvPicPr>
            <a:picLocks noChangeAspect="1"/>
          </p:cNvPicPr>
          <p:nvPr/>
        </p:nvPicPr>
        <p:blipFill>
          <a:blip r:embed="rId7"/>
          <a:stretch>
            <a:fillRect/>
          </a:stretch>
        </p:blipFill>
        <p:spPr>
          <a:xfrm>
            <a:off x="3279851" y="2437326"/>
            <a:ext cx="320068" cy="563929"/>
          </a:xfrm>
          <a:prstGeom prst="rect">
            <a:avLst/>
          </a:prstGeom>
        </p:spPr>
      </p:pic>
    </p:spTree>
    <p:extLst>
      <p:ext uri="{BB962C8B-B14F-4D97-AF65-F5344CB8AC3E}">
        <p14:creationId xmlns:p14="http://schemas.microsoft.com/office/powerpoint/2010/main" val="180860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1000"/>
                                        <p:tgtEl>
                                          <p:spTgt spid="6"/>
                                        </p:tgtEl>
                                      </p:cBhvr>
                                    </p:animEffect>
                                    <p:anim calcmode="lin" valueType="num">
                                      <p:cBhvr>
                                        <p:cTn id="49" dur="1000" fill="hold"/>
                                        <p:tgtEl>
                                          <p:spTgt spid="6"/>
                                        </p:tgtEl>
                                        <p:attrNameLst>
                                          <p:attrName>ppt_x</p:attrName>
                                        </p:attrNameLst>
                                      </p:cBhvr>
                                      <p:tavLst>
                                        <p:tav tm="0">
                                          <p:val>
                                            <p:strVal val="#ppt_x"/>
                                          </p:val>
                                        </p:tav>
                                        <p:tav tm="100000">
                                          <p:val>
                                            <p:strVal val="#ppt_x"/>
                                          </p:val>
                                        </p:tav>
                                      </p:tavLst>
                                    </p:anim>
                                    <p:anim calcmode="lin" valueType="num">
                                      <p:cBhvr>
                                        <p:cTn id="50" dur="1000" fill="hold"/>
                                        <p:tgtEl>
                                          <p:spTgt spid="6"/>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1000"/>
                                        <p:tgtEl>
                                          <p:spTgt spid="20"/>
                                        </p:tgtEl>
                                      </p:cBhvr>
                                    </p:animEffect>
                                    <p:anim calcmode="lin" valueType="num">
                                      <p:cBhvr>
                                        <p:cTn id="54" dur="1000" fill="hold"/>
                                        <p:tgtEl>
                                          <p:spTgt spid="20"/>
                                        </p:tgtEl>
                                        <p:attrNameLst>
                                          <p:attrName>ppt_x</p:attrName>
                                        </p:attrNameLst>
                                      </p:cBhvr>
                                      <p:tavLst>
                                        <p:tav tm="0">
                                          <p:val>
                                            <p:strVal val="#ppt_x"/>
                                          </p:val>
                                        </p:tav>
                                        <p:tav tm="100000">
                                          <p:val>
                                            <p:strVal val="#ppt_x"/>
                                          </p:val>
                                        </p:tav>
                                      </p:tavLst>
                                    </p:anim>
                                    <p:anim calcmode="lin" valueType="num">
                                      <p:cBhvr>
                                        <p:cTn id="5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1000"/>
                                        <p:tgtEl>
                                          <p:spTgt spid="8"/>
                                        </p:tgtEl>
                                      </p:cBhvr>
                                    </p:animEffect>
                                    <p:anim calcmode="lin" valueType="num">
                                      <p:cBhvr>
                                        <p:cTn id="61" dur="1000" fill="hold"/>
                                        <p:tgtEl>
                                          <p:spTgt spid="8"/>
                                        </p:tgtEl>
                                        <p:attrNameLst>
                                          <p:attrName>ppt_x</p:attrName>
                                        </p:attrNameLst>
                                      </p:cBhvr>
                                      <p:tavLst>
                                        <p:tav tm="0">
                                          <p:val>
                                            <p:strVal val="#ppt_x"/>
                                          </p:val>
                                        </p:tav>
                                        <p:tav tm="100000">
                                          <p:val>
                                            <p:strVal val="#ppt_x"/>
                                          </p:val>
                                        </p:tav>
                                      </p:tavLst>
                                    </p:anim>
                                    <p:anim calcmode="lin" valueType="num">
                                      <p:cBhvr>
                                        <p:cTn id="6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p:bldP spid="14" grpId="0"/>
      <p:bldP spid="15"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37390" y="175523"/>
            <a:ext cx="4256314" cy="1189038"/>
          </a:xfrm>
          <a:solidFill>
            <a:srgbClr val="FFFFFF"/>
          </a:solidFill>
        </p:spPr>
        <p:txBody>
          <a:bodyPr>
            <a:normAutofit/>
          </a:bodyPr>
          <a:lstStyle/>
          <a:p>
            <a:r>
              <a:rPr lang="en-US" dirty="0">
                <a:solidFill>
                  <a:srgbClr val="404040"/>
                </a:solidFill>
              </a:rPr>
              <a:t>Results</a:t>
            </a:r>
          </a:p>
        </p:txBody>
      </p:sp>
      <p:pic>
        <p:nvPicPr>
          <p:cNvPr id="16" name="Picture 15">
            <a:extLst>
              <a:ext uri="{FF2B5EF4-FFF2-40B4-BE49-F238E27FC236}">
                <a16:creationId xmlns:a16="http://schemas.microsoft.com/office/drawing/2014/main" id="{E12915C3-6C00-5649-7BA6-657002716D3A}"/>
              </a:ext>
            </a:extLst>
          </p:cNvPr>
          <p:cNvPicPr>
            <a:picLocks noChangeAspect="1"/>
          </p:cNvPicPr>
          <p:nvPr/>
        </p:nvPicPr>
        <p:blipFill rotWithShape="1">
          <a:blip r:embed="rId3"/>
          <a:srcRect b="10727"/>
          <a:stretch/>
        </p:blipFill>
        <p:spPr>
          <a:xfrm>
            <a:off x="5915927" y="4571044"/>
            <a:ext cx="5296359" cy="2170193"/>
          </a:xfrm>
          <a:prstGeom prst="rect">
            <a:avLst/>
          </a:prstGeom>
        </p:spPr>
      </p:pic>
      <p:pic>
        <p:nvPicPr>
          <p:cNvPr id="17" name="Picture 16">
            <a:extLst>
              <a:ext uri="{FF2B5EF4-FFF2-40B4-BE49-F238E27FC236}">
                <a16:creationId xmlns:a16="http://schemas.microsoft.com/office/drawing/2014/main" id="{85A5B573-154E-4CB5-877B-7577C32FB30F}"/>
              </a:ext>
            </a:extLst>
          </p:cNvPr>
          <p:cNvPicPr>
            <a:picLocks noChangeAspect="1"/>
          </p:cNvPicPr>
          <p:nvPr/>
        </p:nvPicPr>
        <p:blipFill>
          <a:blip r:embed="rId4"/>
          <a:stretch>
            <a:fillRect/>
          </a:stretch>
        </p:blipFill>
        <p:spPr>
          <a:xfrm>
            <a:off x="5957748" y="-2003"/>
            <a:ext cx="5395428" cy="2309060"/>
          </a:xfrm>
          <a:prstGeom prst="rect">
            <a:avLst/>
          </a:prstGeom>
        </p:spPr>
      </p:pic>
      <p:pic>
        <p:nvPicPr>
          <p:cNvPr id="18" name="Picture 17">
            <a:extLst>
              <a:ext uri="{FF2B5EF4-FFF2-40B4-BE49-F238E27FC236}">
                <a16:creationId xmlns:a16="http://schemas.microsoft.com/office/drawing/2014/main" id="{3501A7B3-4FC3-B871-27B5-01E556C62CA5}"/>
              </a:ext>
            </a:extLst>
          </p:cNvPr>
          <p:cNvPicPr>
            <a:picLocks noChangeAspect="1"/>
          </p:cNvPicPr>
          <p:nvPr/>
        </p:nvPicPr>
        <p:blipFill>
          <a:blip r:embed="rId5"/>
          <a:stretch>
            <a:fillRect/>
          </a:stretch>
        </p:blipFill>
        <p:spPr>
          <a:xfrm>
            <a:off x="222665" y="1575378"/>
            <a:ext cx="5364945" cy="2392887"/>
          </a:xfrm>
          <a:prstGeom prst="rect">
            <a:avLst/>
          </a:prstGeom>
        </p:spPr>
      </p:pic>
      <p:pic>
        <p:nvPicPr>
          <p:cNvPr id="19" name="Picture 18">
            <a:extLst>
              <a:ext uri="{FF2B5EF4-FFF2-40B4-BE49-F238E27FC236}">
                <a16:creationId xmlns:a16="http://schemas.microsoft.com/office/drawing/2014/main" id="{1AEB73D4-C595-B254-6132-A29F4F472944}"/>
              </a:ext>
            </a:extLst>
          </p:cNvPr>
          <p:cNvPicPr>
            <a:picLocks noChangeAspect="1"/>
          </p:cNvPicPr>
          <p:nvPr/>
        </p:nvPicPr>
        <p:blipFill rotWithShape="1">
          <a:blip r:embed="rId6"/>
          <a:srcRect l="331" t="-12165" r="-331" b="13929"/>
          <a:stretch/>
        </p:blipFill>
        <p:spPr>
          <a:xfrm>
            <a:off x="5897946" y="2060377"/>
            <a:ext cx="5332320" cy="2490567"/>
          </a:xfrm>
          <a:prstGeom prst="rect">
            <a:avLst/>
          </a:prstGeom>
        </p:spPr>
      </p:pic>
      <p:sp>
        <p:nvSpPr>
          <p:cNvPr id="26" name="TextBox 25">
            <a:extLst>
              <a:ext uri="{FF2B5EF4-FFF2-40B4-BE49-F238E27FC236}">
                <a16:creationId xmlns:a16="http://schemas.microsoft.com/office/drawing/2014/main" id="{C897EBB5-155E-EABE-A020-014DC1F9EA4A}"/>
              </a:ext>
            </a:extLst>
          </p:cNvPr>
          <p:cNvSpPr txBox="1"/>
          <p:nvPr/>
        </p:nvSpPr>
        <p:spPr>
          <a:xfrm>
            <a:off x="1091273" y="3703875"/>
            <a:ext cx="3539302" cy="338554"/>
          </a:xfrm>
          <a:prstGeom prst="rect">
            <a:avLst/>
          </a:prstGeom>
          <a:noFill/>
        </p:spPr>
        <p:txBody>
          <a:bodyPr wrap="none" rtlCol="0">
            <a:spAutoFit/>
          </a:bodyPr>
          <a:lstStyle/>
          <a:p>
            <a:r>
              <a:rPr lang="en-IN" sz="1600" dirty="0"/>
              <a:t>Fig7. Concentration map for Base design</a:t>
            </a:r>
          </a:p>
        </p:txBody>
      </p:sp>
      <p:sp>
        <p:nvSpPr>
          <p:cNvPr id="32" name="TextBox 31">
            <a:extLst>
              <a:ext uri="{FF2B5EF4-FFF2-40B4-BE49-F238E27FC236}">
                <a16:creationId xmlns:a16="http://schemas.microsoft.com/office/drawing/2014/main" id="{9B67F9E8-F290-C287-E8E6-4A636DC1FD26}"/>
              </a:ext>
            </a:extLst>
          </p:cNvPr>
          <p:cNvSpPr txBox="1"/>
          <p:nvPr/>
        </p:nvSpPr>
        <p:spPr>
          <a:xfrm>
            <a:off x="7025868" y="6176562"/>
            <a:ext cx="3646713" cy="584775"/>
          </a:xfrm>
          <a:prstGeom prst="rect">
            <a:avLst/>
          </a:prstGeom>
          <a:noFill/>
        </p:spPr>
        <p:txBody>
          <a:bodyPr wrap="square">
            <a:spAutoFit/>
          </a:bodyPr>
          <a:lstStyle/>
          <a:p>
            <a:r>
              <a:rPr lang="en-IN" sz="1600" dirty="0"/>
              <a:t>Fig11. Concentration map for base design with Square block barriers in flow</a:t>
            </a:r>
          </a:p>
        </p:txBody>
      </p:sp>
      <p:sp>
        <p:nvSpPr>
          <p:cNvPr id="34" name="TextBox 33">
            <a:extLst>
              <a:ext uri="{FF2B5EF4-FFF2-40B4-BE49-F238E27FC236}">
                <a16:creationId xmlns:a16="http://schemas.microsoft.com/office/drawing/2014/main" id="{CAC018B5-ED5D-1FBF-67E4-73CC352A25C7}"/>
              </a:ext>
            </a:extLst>
          </p:cNvPr>
          <p:cNvSpPr txBox="1"/>
          <p:nvPr/>
        </p:nvSpPr>
        <p:spPr>
          <a:xfrm>
            <a:off x="6876820" y="4006231"/>
            <a:ext cx="3646713" cy="584775"/>
          </a:xfrm>
          <a:prstGeom prst="rect">
            <a:avLst/>
          </a:prstGeom>
          <a:noFill/>
        </p:spPr>
        <p:txBody>
          <a:bodyPr wrap="square">
            <a:spAutoFit/>
          </a:bodyPr>
          <a:lstStyle/>
          <a:p>
            <a:r>
              <a:rPr lang="en-IN" sz="1600" dirty="0"/>
              <a:t>Fig10. Concentration map for Base design with Cylindrical block barriers in flow</a:t>
            </a:r>
          </a:p>
        </p:txBody>
      </p:sp>
      <p:sp>
        <p:nvSpPr>
          <p:cNvPr id="3" name="TextBox 2">
            <a:extLst>
              <a:ext uri="{FF2B5EF4-FFF2-40B4-BE49-F238E27FC236}">
                <a16:creationId xmlns:a16="http://schemas.microsoft.com/office/drawing/2014/main" id="{42A47A14-FE44-2CF7-78A8-033E5FED4189}"/>
              </a:ext>
            </a:extLst>
          </p:cNvPr>
          <p:cNvSpPr txBox="1"/>
          <p:nvPr/>
        </p:nvSpPr>
        <p:spPr>
          <a:xfrm>
            <a:off x="6884355" y="1644539"/>
            <a:ext cx="3646713" cy="584775"/>
          </a:xfrm>
          <a:prstGeom prst="rect">
            <a:avLst/>
          </a:prstGeom>
          <a:noFill/>
        </p:spPr>
        <p:txBody>
          <a:bodyPr wrap="square" rtlCol="0">
            <a:spAutoFit/>
          </a:bodyPr>
          <a:lstStyle/>
          <a:p>
            <a:r>
              <a:rPr lang="en-US" sz="1600" dirty="0"/>
              <a:t>Fig9. Concentration map for Base design with 50 mm distance between inlets</a:t>
            </a:r>
            <a:endParaRPr lang="en-IN" sz="1600" dirty="0"/>
          </a:p>
        </p:txBody>
      </p:sp>
      <p:pic>
        <p:nvPicPr>
          <p:cNvPr id="4" name="Picture 3">
            <a:extLst>
              <a:ext uri="{FF2B5EF4-FFF2-40B4-BE49-F238E27FC236}">
                <a16:creationId xmlns:a16="http://schemas.microsoft.com/office/drawing/2014/main" id="{752B7DB7-1B08-032D-97DC-6F47715CDCE8}"/>
              </a:ext>
            </a:extLst>
          </p:cNvPr>
          <p:cNvPicPr>
            <a:picLocks noChangeAspect="1"/>
          </p:cNvPicPr>
          <p:nvPr/>
        </p:nvPicPr>
        <p:blipFill>
          <a:blip r:embed="rId7"/>
          <a:stretch>
            <a:fillRect/>
          </a:stretch>
        </p:blipFill>
        <p:spPr>
          <a:xfrm>
            <a:off x="222665" y="4062107"/>
            <a:ext cx="5285763" cy="2663056"/>
          </a:xfrm>
          <a:prstGeom prst="rect">
            <a:avLst/>
          </a:prstGeom>
        </p:spPr>
      </p:pic>
      <p:sp>
        <p:nvSpPr>
          <p:cNvPr id="13" name="TextBox 12">
            <a:extLst>
              <a:ext uri="{FF2B5EF4-FFF2-40B4-BE49-F238E27FC236}">
                <a16:creationId xmlns:a16="http://schemas.microsoft.com/office/drawing/2014/main" id="{0226ABBB-F989-5723-CFB0-47D3C1903665}"/>
              </a:ext>
            </a:extLst>
          </p:cNvPr>
          <p:cNvSpPr txBox="1"/>
          <p:nvPr/>
        </p:nvSpPr>
        <p:spPr>
          <a:xfrm>
            <a:off x="804945" y="6075669"/>
            <a:ext cx="3718453" cy="584775"/>
          </a:xfrm>
          <a:prstGeom prst="rect">
            <a:avLst/>
          </a:prstGeom>
          <a:noFill/>
        </p:spPr>
        <p:txBody>
          <a:bodyPr wrap="square">
            <a:spAutoFit/>
          </a:bodyPr>
          <a:lstStyle/>
          <a:p>
            <a:r>
              <a:rPr lang="en-US" sz="1600" dirty="0"/>
              <a:t>Fig8. Concentration map for Base design with 0 mm distance between inlets</a:t>
            </a:r>
            <a:endParaRPr lang="en-IN" sz="1600" dirty="0"/>
          </a:p>
        </p:txBody>
      </p:sp>
    </p:spTree>
    <p:extLst>
      <p:ext uri="{BB962C8B-B14F-4D97-AF65-F5344CB8AC3E}">
        <p14:creationId xmlns:p14="http://schemas.microsoft.com/office/powerpoint/2010/main" val="180922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3"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vert="horz" wrap="square" lIns="182880" tIns="182880" rIns="182880" bIns="182880" rtlCol="0" anchor="ctr">
            <a:normAutofit/>
          </a:bodyPr>
          <a:lstStyle/>
          <a:p>
            <a:pPr defTabSz="914400"/>
            <a:r>
              <a:rPr lang="en-US">
                <a:solidFill>
                  <a:schemeClr val="bg1"/>
                </a:solidFill>
              </a:rPr>
              <a:t>Result Verification</a:t>
            </a:r>
          </a:p>
        </p:txBody>
      </p:sp>
      <p:sp>
        <p:nvSpPr>
          <p:cNvPr id="3" name="Content Placeholder 2"/>
          <p:cNvSpPr>
            <a:spLocks noGrp="1"/>
          </p:cNvSpPr>
          <p:nvPr>
            <p:ph sz="half" idx="1"/>
          </p:nvPr>
        </p:nvSpPr>
        <p:spPr>
          <a:xfrm>
            <a:off x="643467" y="2906944"/>
            <a:ext cx="3591075" cy="3415622"/>
          </a:xfrm>
        </p:spPr>
        <p:txBody>
          <a:bodyPr vert="horz" lIns="91440" tIns="45720" rIns="91440" bIns="45720" rtlCol="0">
            <a:normAutofit/>
          </a:bodyPr>
          <a:lstStyle/>
          <a:p>
            <a:pPr indent="-228600" defTabSz="914400"/>
            <a:r>
              <a:rPr lang="en-US" dirty="0">
                <a:solidFill>
                  <a:schemeClr val="bg1"/>
                </a:solidFill>
              </a:rPr>
              <a:t>Replicating results in laboratory.</a:t>
            </a:r>
          </a:p>
          <a:p>
            <a:pPr indent="-228600" defTabSz="914400"/>
            <a:r>
              <a:rPr lang="en-US" dirty="0">
                <a:solidFill>
                  <a:schemeClr val="bg1"/>
                </a:solidFill>
              </a:rPr>
              <a:t>By predicting mixing by pressure drop data in device.</a:t>
            </a:r>
          </a:p>
          <a:p>
            <a:pPr indent="-228600" defTabSz="914400"/>
            <a:r>
              <a:rPr lang="en-US" dirty="0">
                <a:solidFill>
                  <a:schemeClr val="bg1"/>
                </a:solidFill>
              </a:rPr>
              <a:t>By comparison of concentration maps with the work of  </a:t>
            </a:r>
            <a:r>
              <a:rPr lang="en-US" b="0" i="0" dirty="0">
                <a:solidFill>
                  <a:schemeClr val="bg1"/>
                </a:solidFill>
                <a:effectLst/>
              </a:rPr>
              <a:t>Li-Yu Tseng in</a:t>
            </a:r>
            <a:r>
              <a:rPr lang="en-US" dirty="0">
                <a:solidFill>
                  <a:schemeClr val="bg1"/>
                </a:solidFill>
              </a:rPr>
              <a:t> 2011[4].</a:t>
            </a:r>
          </a:p>
          <a:p>
            <a:pPr indent="-228600" defTabSz="914400"/>
            <a:r>
              <a:rPr lang="en-US" dirty="0">
                <a:solidFill>
                  <a:schemeClr val="bg1"/>
                </a:solidFill>
              </a:rPr>
              <a:t>Verifying mixing index with that of Hummingbird Corporation’s study.</a:t>
            </a:r>
          </a:p>
        </p:txBody>
      </p:sp>
      <p:graphicFrame>
        <p:nvGraphicFramePr>
          <p:cNvPr id="4" name="Table 4">
            <a:extLst>
              <a:ext uri="{FF2B5EF4-FFF2-40B4-BE49-F238E27FC236}">
                <a16:creationId xmlns:a16="http://schemas.microsoft.com/office/drawing/2014/main" id="{C16DE580-DB54-4499-B270-374749A04B4A}"/>
              </a:ext>
            </a:extLst>
          </p:cNvPr>
          <p:cNvGraphicFramePr>
            <a:graphicFrameLocks noGrp="1"/>
          </p:cNvGraphicFramePr>
          <p:nvPr>
            <p:extLst>
              <p:ext uri="{D42A27DB-BD31-4B8C-83A1-F6EECF244321}">
                <p14:modId xmlns:p14="http://schemas.microsoft.com/office/powerpoint/2010/main" val="345946116"/>
              </p:ext>
            </p:extLst>
          </p:nvPr>
        </p:nvGraphicFramePr>
        <p:xfrm>
          <a:off x="5536880" y="643467"/>
          <a:ext cx="5772535" cy="5410204"/>
        </p:xfrm>
        <a:graphic>
          <a:graphicData uri="http://schemas.openxmlformats.org/drawingml/2006/table">
            <a:tbl>
              <a:tblPr firstRow="1" bandRow="1">
                <a:tableStyleId>{21E4AEA4-8DFA-4A89-87EB-49C32662AFE0}</a:tableStyleId>
              </a:tblPr>
              <a:tblGrid>
                <a:gridCol w="4342933">
                  <a:extLst>
                    <a:ext uri="{9D8B030D-6E8A-4147-A177-3AD203B41FA5}">
                      <a16:colId xmlns:a16="http://schemas.microsoft.com/office/drawing/2014/main" val="3461796946"/>
                    </a:ext>
                  </a:extLst>
                </a:gridCol>
                <a:gridCol w="1429602">
                  <a:extLst>
                    <a:ext uri="{9D8B030D-6E8A-4147-A177-3AD203B41FA5}">
                      <a16:colId xmlns:a16="http://schemas.microsoft.com/office/drawing/2014/main" val="71495486"/>
                    </a:ext>
                  </a:extLst>
                </a:gridCol>
              </a:tblGrid>
              <a:tr h="848210">
                <a:tc>
                  <a:txBody>
                    <a:bodyPr/>
                    <a:lstStyle/>
                    <a:p>
                      <a:r>
                        <a:rPr lang="en-IN" sz="2300"/>
                        <a:t>Geometrical Design</a:t>
                      </a:r>
                    </a:p>
                  </a:txBody>
                  <a:tcPr marL="114623" marR="114623" marT="57311" marB="57311"/>
                </a:tc>
                <a:tc>
                  <a:txBody>
                    <a:bodyPr/>
                    <a:lstStyle/>
                    <a:p>
                      <a:r>
                        <a:rPr lang="en-IN" sz="2300"/>
                        <a:t>Mixing Index</a:t>
                      </a:r>
                    </a:p>
                  </a:txBody>
                  <a:tcPr marL="114623" marR="114623" marT="57311" marB="57311"/>
                </a:tc>
                <a:extLst>
                  <a:ext uri="{0D108BD9-81ED-4DB2-BD59-A6C34878D82A}">
                    <a16:rowId xmlns:a16="http://schemas.microsoft.com/office/drawing/2014/main" val="976296318"/>
                  </a:ext>
                </a:extLst>
              </a:tr>
              <a:tr h="504341">
                <a:tc>
                  <a:txBody>
                    <a:bodyPr/>
                    <a:lstStyle/>
                    <a:p>
                      <a:r>
                        <a:rPr lang="en-IN" sz="2300" dirty="0"/>
                        <a:t>Hummingbird base design</a:t>
                      </a:r>
                    </a:p>
                  </a:txBody>
                  <a:tcPr marL="114623" marR="114623" marT="57311" marB="57311"/>
                </a:tc>
                <a:tc>
                  <a:txBody>
                    <a:bodyPr/>
                    <a:lstStyle/>
                    <a:p>
                      <a:r>
                        <a:rPr lang="en-IN" sz="2300"/>
                        <a:t>0.44346</a:t>
                      </a:r>
                    </a:p>
                  </a:txBody>
                  <a:tcPr marL="114623" marR="114623" marT="57311" marB="57311"/>
                </a:tc>
                <a:extLst>
                  <a:ext uri="{0D108BD9-81ED-4DB2-BD59-A6C34878D82A}">
                    <a16:rowId xmlns:a16="http://schemas.microsoft.com/office/drawing/2014/main" val="2707348058"/>
                  </a:ext>
                </a:extLst>
              </a:tr>
              <a:tr h="504341">
                <a:tc>
                  <a:txBody>
                    <a:bodyPr/>
                    <a:lstStyle/>
                    <a:p>
                      <a:r>
                        <a:rPr lang="en-IN" sz="2300" dirty="0"/>
                        <a:t>Distance between inlet 100mm</a:t>
                      </a:r>
                    </a:p>
                  </a:txBody>
                  <a:tcPr marL="114623" marR="114623" marT="57311" marB="57311"/>
                </a:tc>
                <a:tc>
                  <a:txBody>
                    <a:bodyPr/>
                    <a:lstStyle/>
                    <a:p>
                      <a:r>
                        <a:rPr lang="en-IN" sz="2300"/>
                        <a:t>0.47399</a:t>
                      </a:r>
                    </a:p>
                  </a:txBody>
                  <a:tcPr marL="114623" marR="114623" marT="57311" marB="57311"/>
                </a:tc>
                <a:extLst>
                  <a:ext uri="{0D108BD9-81ED-4DB2-BD59-A6C34878D82A}">
                    <a16:rowId xmlns:a16="http://schemas.microsoft.com/office/drawing/2014/main" val="3690821447"/>
                  </a:ext>
                </a:extLst>
              </a:tr>
              <a:tr h="504341">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2300" dirty="0"/>
                        <a:t>Distance between inlet 0mm</a:t>
                      </a:r>
                    </a:p>
                  </a:txBody>
                  <a:tcPr marL="114623" marR="114623" marT="57311" marB="57311"/>
                </a:tc>
                <a:tc>
                  <a:txBody>
                    <a:bodyPr/>
                    <a:lstStyle/>
                    <a:p>
                      <a:r>
                        <a:rPr lang="en-IN" sz="2300"/>
                        <a:t>0.51678</a:t>
                      </a:r>
                    </a:p>
                  </a:txBody>
                  <a:tcPr marL="114623" marR="114623" marT="57311" marB="57311"/>
                </a:tc>
                <a:extLst>
                  <a:ext uri="{0D108BD9-81ED-4DB2-BD59-A6C34878D82A}">
                    <a16:rowId xmlns:a16="http://schemas.microsoft.com/office/drawing/2014/main" val="635460412"/>
                  </a:ext>
                </a:extLst>
              </a:tr>
              <a:tr h="504341">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2300" dirty="0"/>
                        <a:t>Distance between inlet 50mm</a:t>
                      </a:r>
                    </a:p>
                  </a:txBody>
                  <a:tcPr marL="114623" marR="114623" marT="57311" marB="57311"/>
                </a:tc>
                <a:tc>
                  <a:txBody>
                    <a:bodyPr/>
                    <a:lstStyle/>
                    <a:p>
                      <a:r>
                        <a:rPr lang="en-IN" sz="2300"/>
                        <a:t>0.43592</a:t>
                      </a:r>
                    </a:p>
                  </a:txBody>
                  <a:tcPr marL="114623" marR="114623" marT="57311" marB="57311"/>
                </a:tc>
                <a:extLst>
                  <a:ext uri="{0D108BD9-81ED-4DB2-BD59-A6C34878D82A}">
                    <a16:rowId xmlns:a16="http://schemas.microsoft.com/office/drawing/2014/main" val="3489980409"/>
                  </a:ext>
                </a:extLst>
              </a:tr>
              <a:tr h="848210">
                <a:tc>
                  <a:txBody>
                    <a:bodyPr/>
                    <a:lstStyle/>
                    <a:p>
                      <a:r>
                        <a:rPr lang="en-IN" sz="2300" dirty="0"/>
                        <a:t>Cylindrical block barriers in mixing tube</a:t>
                      </a:r>
                    </a:p>
                  </a:txBody>
                  <a:tcPr marL="114623" marR="114623" marT="57311" marB="57311"/>
                </a:tc>
                <a:tc>
                  <a:txBody>
                    <a:bodyPr/>
                    <a:lstStyle/>
                    <a:p>
                      <a:r>
                        <a:rPr lang="en-IN" sz="2300"/>
                        <a:t>0.52346</a:t>
                      </a:r>
                    </a:p>
                  </a:txBody>
                  <a:tcPr marL="114623" marR="114623" marT="57311" marB="57311"/>
                </a:tc>
                <a:extLst>
                  <a:ext uri="{0D108BD9-81ED-4DB2-BD59-A6C34878D82A}">
                    <a16:rowId xmlns:a16="http://schemas.microsoft.com/office/drawing/2014/main" val="3394751884"/>
                  </a:ext>
                </a:extLst>
              </a:tr>
              <a:tr h="84821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2300" dirty="0"/>
                        <a:t>Square block barriers in mixing tube</a:t>
                      </a:r>
                    </a:p>
                  </a:txBody>
                  <a:tcPr marL="114623" marR="114623" marT="57311" marB="57311"/>
                </a:tc>
                <a:tc>
                  <a:txBody>
                    <a:bodyPr/>
                    <a:lstStyle/>
                    <a:p>
                      <a:r>
                        <a:rPr lang="en-IN" sz="2300"/>
                        <a:t>0.56045</a:t>
                      </a:r>
                    </a:p>
                  </a:txBody>
                  <a:tcPr marL="114623" marR="114623" marT="57311" marB="57311"/>
                </a:tc>
                <a:extLst>
                  <a:ext uri="{0D108BD9-81ED-4DB2-BD59-A6C34878D82A}">
                    <a16:rowId xmlns:a16="http://schemas.microsoft.com/office/drawing/2014/main" val="1338503166"/>
                  </a:ext>
                </a:extLst>
              </a:tr>
              <a:tr h="848210">
                <a:tc>
                  <a:txBody>
                    <a:bodyPr/>
                    <a:lstStyle/>
                    <a:p>
                      <a:r>
                        <a:rPr lang="en-IN" sz="2300" dirty="0"/>
                        <a:t>Perpendicular fins in mixing tube</a:t>
                      </a:r>
                    </a:p>
                  </a:txBody>
                  <a:tcPr marL="114623" marR="114623" marT="57311" marB="57311"/>
                </a:tc>
                <a:tc>
                  <a:txBody>
                    <a:bodyPr/>
                    <a:lstStyle/>
                    <a:p>
                      <a:r>
                        <a:rPr lang="en-IN" sz="2300" dirty="0"/>
                        <a:t>0.32159</a:t>
                      </a:r>
                    </a:p>
                  </a:txBody>
                  <a:tcPr marL="114623" marR="114623" marT="57311" marB="57311"/>
                </a:tc>
                <a:extLst>
                  <a:ext uri="{0D108BD9-81ED-4DB2-BD59-A6C34878D82A}">
                    <a16:rowId xmlns:a16="http://schemas.microsoft.com/office/drawing/2014/main" val="1327524811"/>
                  </a:ext>
                </a:extLst>
              </a:tr>
            </a:tbl>
          </a:graphicData>
        </a:graphic>
      </p:graphicFrame>
    </p:spTree>
    <p:extLst>
      <p:ext uri="{BB962C8B-B14F-4D97-AF65-F5344CB8AC3E}">
        <p14:creationId xmlns:p14="http://schemas.microsoft.com/office/powerpoint/2010/main" val="71900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18">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0">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2681103"/>
            <a:ext cx="3363974" cy="1495794"/>
          </a:xfrm>
          <a:noFill/>
          <a:ln>
            <a:solidFill>
              <a:schemeClr val="bg1"/>
            </a:solidFill>
          </a:ln>
        </p:spPr>
        <p:txBody>
          <a:bodyPr wrap="square">
            <a:normAutofit/>
          </a:bodyPr>
          <a:lstStyle/>
          <a:p>
            <a:r>
              <a:rPr lang="en-US" dirty="0">
                <a:solidFill>
                  <a:schemeClr val="bg1"/>
                </a:solidFill>
              </a:rPr>
              <a:t>Prospective work</a:t>
            </a:r>
          </a:p>
        </p:txBody>
      </p:sp>
      <p:graphicFrame>
        <p:nvGraphicFramePr>
          <p:cNvPr id="37" name="Content Placeholder 2">
            <a:extLst>
              <a:ext uri="{FF2B5EF4-FFF2-40B4-BE49-F238E27FC236}">
                <a16:creationId xmlns:a16="http://schemas.microsoft.com/office/drawing/2014/main" id="{E74C24BC-8B58-3BEA-AED9-0D050C89A1F3}"/>
              </a:ext>
            </a:extLst>
          </p:cNvPr>
          <p:cNvGraphicFramePr>
            <a:graphicFrameLocks noGrp="1"/>
          </p:cNvGraphicFramePr>
          <p:nvPr>
            <p:ph idx="1"/>
            <p:extLst>
              <p:ext uri="{D42A27DB-BD31-4B8C-83A1-F6EECF244321}">
                <p14:modId xmlns:p14="http://schemas.microsoft.com/office/powerpoint/2010/main" val="2687363778"/>
              </p:ext>
            </p:extLst>
          </p:nvPr>
        </p:nvGraphicFramePr>
        <p:xfrm>
          <a:off x="5619750" y="965200"/>
          <a:ext cx="560705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2080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7"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09DEA-1966-1F8C-A536-AFABB4A616F9}"/>
              </a:ext>
            </a:extLst>
          </p:cNvPr>
          <p:cNvSpPr>
            <a:spLocks noGrp="1"/>
          </p:cNvSpPr>
          <p:nvPr>
            <p:ph type="title"/>
          </p:nvPr>
        </p:nvSpPr>
        <p:spPr>
          <a:xfrm>
            <a:off x="2231136" y="202692"/>
            <a:ext cx="7729728" cy="1188720"/>
          </a:xfrm>
        </p:spPr>
        <p:txBody>
          <a:bodyPr/>
          <a:lstStyle/>
          <a:p>
            <a:r>
              <a:rPr lang="en-IN" dirty="0"/>
              <a:t>Questions answered</a:t>
            </a:r>
          </a:p>
        </p:txBody>
      </p:sp>
      <p:sp>
        <p:nvSpPr>
          <p:cNvPr id="3" name="Content Placeholder 2">
            <a:extLst>
              <a:ext uri="{FF2B5EF4-FFF2-40B4-BE49-F238E27FC236}">
                <a16:creationId xmlns:a16="http://schemas.microsoft.com/office/drawing/2014/main" id="{E4D5E73F-9A14-8976-1000-78685A380B1F}"/>
              </a:ext>
            </a:extLst>
          </p:cNvPr>
          <p:cNvSpPr>
            <a:spLocks noGrp="1"/>
          </p:cNvSpPr>
          <p:nvPr>
            <p:ph idx="1"/>
          </p:nvPr>
        </p:nvSpPr>
        <p:spPr>
          <a:xfrm>
            <a:off x="914400" y="1654630"/>
            <a:ext cx="10058400" cy="4085402"/>
          </a:xfrm>
        </p:spPr>
        <p:txBody>
          <a:bodyPr>
            <a:normAutofit/>
          </a:bodyPr>
          <a:lstStyle/>
          <a:p>
            <a:pPr algn="l"/>
            <a:r>
              <a:rPr lang="en-US" sz="2000" b="0" i="0" dirty="0">
                <a:solidFill>
                  <a:srgbClr val="000000"/>
                </a:solidFill>
                <a:effectLst/>
                <a:latin typeface="Calibri" panose="020F0502020204030204" pitchFamily="34" charset="0"/>
              </a:rPr>
              <a:t> what are the scales on the geometry in the figures shown?</a:t>
            </a:r>
          </a:p>
          <a:p>
            <a:pPr marL="0" indent="0" algn="l">
              <a:buNone/>
            </a:pPr>
            <a:r>
              <a:rPr lang="en-US" sz="2000" dirty="0">
                <a:solidFill>
                  <a:srgbClr val="000000"/>
                </a:solidFill>
                <a:latin typeface="Calibri" panose="020F0502020204030204" pitchFamily="34" charset="0"/>
              </a:rPr>
              <a:t>The geometry provided here is in micrometer scale where the length of channel is 9mm in the first design but for others, length Is provided in the report. To achieve proper mixing for same length designs are build with passive mixers implemented.</a:t>
            </a:r>
            <a:r>
              <a:rPr lang="en-US" sz="2000" b="0" i="0" dirty="0">
                <a:solidFill>
                  <a:srgbClr val="000000"/>
                </a:solidFill>
                <a:effectLst/>
                <a:latin typeface="Calibri" panose="020F0502020204030204" pitchFamily="34" charset="0"/>
              </a:rPr>
              <a:t> </a:t>
            </a:r>
          </a:p>
          <a:p>
            <a:pPr algn="l"/>
            <a:r>
              <a:rPr lang="en-US" sz="2000" b="0" i="0" dirty="0">
                <a:solidFill>
                  <a:srgbClr val="000000"/>
                </a:solidFill>
                <a:effectLst/>
                <a:latin typeface="Calibri" panose="020F0502020204030204" pitchFamily="34" charset="0"/>
              </a:rPr>
              <a:t>Slide 7 says mL/Min, whereas we run in </a:t>
            </a:r>
            <a:r>
              <a:rPr lang="en-US" sz="2000" b="0" i="0" dirty="0" err="1">
                <a:solidFill>
                  <a:srgbClr val="000000"/>
                </a:solidFill>
                <a:effectLst/>
                <a:latin typeface="Calibri" panose="020F0502020204030204" pitchFamily="34" charset="0"/>
              </a:rPr>
              <a:t>uL</a:t>
            </a:r>
            <a:r>
              <a:rPr lang="en-US" sz="2000" b="0" i="0" dirty="0">
                <a:solidFill>
                  <a:srgbClr val="000000"/>
                </a:solidFill>
                <a:effectLst/>
                <a:latin typeface="Calibri" panose="020F0502020204030204" pitchFamily="34" charset="0"/>
              </a:rPr>
              <a:t>/min. Not sure if this was a formatting error?</a:t>
            </a:r>
          </a:p>
          <a:p>
            <a:pPr marL="0" indent="0" algn="l">
              <a:buNone/>
            </a:pPr>
            <a:r>
              <a:rPr lang="en-US" sz="2000" b="0" i="0" dirty="0">
                <a:solidFill>
                  <a:srgbClr val="000000"/>
                </a:solidFill>
                <a:effectLst/>
                <a:latin typeface="Calibri" panose="020F0502020204030204" pitchFamily="34" charset="0"/>
              </a:rPr>
              <a:t>From the research work referred in the report and the initial values provided by professor </a:t>
            </a:r>
            <a:r>
              <a:rPr lang="en-US" sz="2000" b="0" i="0" dirty="0" err="1">
                <a:solidFill>
                  <a:srgbClr val="000000"/>
                </a:solidFill>
                <a:effectLst/>
                <a:latin typeface="Calibri" panose="020F0502020204030204" pitchFamily="34" charset="0"/>
              </a:rPr>
              <a:t>nik</a:t>
            </a:r>
            <a:r>
              <a:rPr lang="en-US" sz="2000" b="0" i="0" dirty="0">
                <a:solidFill>
                  <a:srgbClr val="000000"/>
                </a:solidFill>
                <a:effectLst/>
                <a:latin typeface="Calibri" panose="020F0502020204030204" pitchFamily="34" charset="0"/>
              </a:rPr>
              <a:t>. The </a:t>
            </a:r>
            <a:r>
              <a:rPr lang="en-US" sz="2000" dirty="0">
                <a:solidFill>
                  <a:srgbClr val="000000"/>
                </a:solidFill>
                <a:latin typeface="Calibri" panose="020F0502020204030204" pitchFamily="34" charset="0"/>
              </a:rPr>
              <a:t>flow rate value ranged between 0.1 to 10 ml/min therefore appropriate initial values were </a:t>
            </a:r>
            <a:r>
              <a:rPr lang="en-US" sz="2000">
                <a:solidFill>
                  <a:srgbClr val="000000"/>
                </a:solidFill>
                <a:latin typeface="Calibri" panose="020F0502020204030204" pitchFamily="34" charset="0"/>
              </a:rPr>
              <a:t>taken.</a:t>
            </a:r>
            <a:endParaRPr lang="en-US" sz="2000" b="0" i="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4218807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9F9EF0-93D5-4D4B-BAFE-477002814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31136" y="331355"/>
            <a:ext cx="7729728" cy="786623"/>
          </a:xfrm>
          <a:solidFill>
            <a:srgbClr val="FFFFFF">
              <a:alpha val="10000"/>
            </a:srgbClr>
          </a:solidFill>
          <a:ln>
            <a:solidFill>
              <a:schemeClr val="tx1"/>
            </a:solidFill>
          </a:ln>
        </p:spPr>
        <p:txBody>
          <a:bodyPr>
            <a:normAutofit/>
          </a:bodyPr>
          <a:lstStyle/>
          <a:p>
            <a:r>
              <a:rPr lang="en-US" dirty="0">
                <a:solidFill>
                  <a:schemeClr val="tx1"/>
                </a:solidFill>
              </a:rPr>
              <a:t>Works cited</a:t>
            </a:r>
          </a:p>
        </p:txBody>
      </p:sp>
      <p:sp>
        <p:nvSpPr>
          <p:cNvPr id="3" name="Content Placeholder 2"/>
          <p:cNvSpPr>
            <a:spLocks noGrp="1"/>
          </p:cNvSpPr>
          <p:nvPr>
            <p:ph idx="1"/>
          </p:nvPr>
        </p:nvSpPr>
        <p:spPr>
          <a:xfrm>
            <a:off x="1458685" y="1449333"/>
            <a:ext cx="9274629" cy="4864385"/>
          </a:xfrm>
        </p:spPr>
        <p:txBody>
          <a:bodyPr>
            <a:normAutofit/>
          </a:bodyPr>
          <a:lstStyle/>
          <a:p>
            <a:pPr marL="342891" indent="-342891">
              <a:buFont typeface="+mj-lt"/>
              <a:buAutoNum type="arabicPeriod"/>
            </a:pPr>
            <a:r>
              <a:rPr lang="en-IN" dirty="0" err="1">
                <a:solidFill>
                  <a:schemeClr val="tx1"/>
                </a:solidFill>
              </a:rPr>
              <a:t>Rippeth</a:t>
            </a:r>
            <a:r>
              <a:rPr lang="en-IN" dirty="0">
                <a:solidFill>
                  <a:schemeClr val="tx1"/>
                </a:solidFill>
              </a:rPr>
              <a:t>, J.J.; Gibson, T.D.; Hart, J.P.; Hartley, I.C.; Nelson, G. Flow-injection detector incorporating a screen-printed disposable </a:t>
            </a:r>
            <a:r>
              <a:rPr lang="en-IN" dirty="0" err="1">
                <a:solidFill>
                  <a:schemeClr val="tx1"/>
                </a:solidFill>
              </a:rPr>
              <a:t>amperometric</a:t>
            </a:r>
            <a:r>
              <a:rPr lang="en-IN" dirty="0">
                <a:solidFill>
                  <a:schemeClr val="tx1"/>
                </a:solidFill>
              </a:rPr>
              <a:t> biosensor for monitoring organophosphate pesticides. Analyst 1997, 122, 1425–1429.</a:t>
            </a:r>
          </a:p>
          <a:p>
            <a:pPr marL="342891" indent="-342891">
              <a:buFont typeface="+mj-lt"/>
              <a:buAutoNum type="arabicPeriod"/>
            </a:pPr>
            <a:r>
              <a:rPr lang="en-US" dirty="0">
                <a:solidFill>
                  <a:schemeClr val="tx1"/>
                </a:solidFill>
              </a:rPr>
              <a:t>Anon 2022. Overview | Hummingbird Scientific. Hummingbird Scientific. [Online]. [Accessed 15 February 2022]. Available from: </a:t>
            </a:r>
            <a:r>
              <a:rPr lang="en-US" dirty="0">
                <a:solidFill>
                  <a:schemeClr val="tx1"/>
                </a:solidFill>
                <a:hlinkClick r:id="rId2"/>
              </a:rPr>
              <a:t>https://hummingbirdscientific.com/products/liquid/#</a:t>
            </a:r>
            <a:r>
              <a:rPr lang="en-US" dirty="0">
                <a:solidFill>
                  <a:schemeClr val="tx1"/>
                </a:solidFill>
              </a:rPr>
              <a:t>.</a:t>
            </a:r>
          </a:p>
          <a:p>
            <a:pPr marL="342891" indent="-342891">
              <a:buFont typeface="+mj-lt"/>
              <a:buAutoNum type="arabicPeriod"/>
            </a:pPr>
            <a:r>
              <a:rPr lang="en-US" dirty="0"/>
              <a:t>Pike, D., </a:t>
            </a:r>
            <a:r>
              <a:rPr lang="en-US" dirty="0" err="1"/>
              <a:t>Kapur</a:t>
            </a:r>
            <a:r>
              <a:rPr lang="en-US" dirty="0"/>
              <a:t>, N., Millner, P. and Stewart, D. 2012. Flow Cell Design for Effective Biosensing. Sensors. 13(1),pp.58-70.</a:t>
            </a:r>
          </a:p>
          <a:p>
            <a:pPr marL="342891" indent="-342891">
              <a:buFont typeface="+mj-lt"/>
              <a:buAutoNum type="arabicPeriod"/>
            </a:pPr>
            <a:r>
              <a:rPr lang="en-IN" b="0" i="0" dirty="0">
                <a:solidFill>
                  <a:schemeClr val="tx1"/>
                </a:solidFill>
                <a:effectLst/>
              </a:rPr>
              <a:t>Li-Yu Tseng, An-</a:t>
            </a:r>
            <a:r>
              <a:rPr lang="en-IN" b="0" i="0" dirty="0" err="1">
                <a:solidFill>
                  <a:schemeClr val="tx1"/>
                </a:solidFill>
                <a:effectLst/>
              </a:rPr>
              <a:t>Shik</a:t>
            </a:r>
            <a:r>
              <a:rPr lang="en-IN" b="0" i="0" dirty="0">
                <a:solidFill>
                  <a:schemeClr val="tx1"/>
                </a:solidFill>
                <a:effectLst/>
              </a:rPr>
              <a:t> Yang, Chun-Ying Lee &amp; Chang-Yu Hsieh (2011) CFD-Based Optimization of a Diamond-Obstacles Inserted Micromixer with Boundary Protrusions, Engineering Applications of Computational Fluid Mechanics, 5:2, 210-222, DOI: </a:t>
            </a:r>
            <a:r>
              <a:rPr lang="en-IN" b="0" i="0" u="sng" dirty="0">
                <a:solidFill>
                  <a:schemeClr val="tx1"/>
                </a:solidFill>
                <a:effectLst/>
                <a:hlinkClick r:id="rId3">
                  <a:extLst>
                    <a:ext uri="{A12FA001-AC4F-418D-AE19-62706E023703}">
                      <ahyp:hlinkClr xmlns:ahyp="http://schemas.microsoft.com/office/drawing/2018/hyperlinkcolor" val="tx"/>
                    </a:ext>
                  </a:extLst>
                </a:hlinkClick>
              </a:rPr>
              <a:t>10.1080/19942060.2011.11015365</a:t>
            </a:r>
            <a:r>
              <a:rPr lang="en-IN" b="0" i="0" u="sng" dirty="0">
                <a:solidFill>
                  <a:schemeClr val="tx1"/>
                </a:solidFill>
                <a:effectLst/>
              </a:rPr>
              <a:t>.</a:t>
            </a:r>
          </a:p>
          <a:p>
            <a:pPr marL="342891" indent="-342891">
              <a:buFont typeface="+mj-lt"/>
              <a:buAutoNum type="arabicPeriod"/>
            </a:pPr>
            <a:r>
              <a:rPr lang="en-IN" dirty="0">
                <a:solidFill>
                  <a:schemeClr val="tx1"/>
                </a:solidFill>
              </a:rPr>
              <a:t>Finlayson, Bruce &amp; Aditya, Andy &amp; Brasher, Vann &amp; Dahl, Lisa &amp; </a:t>
            </a:r>
            <a:r>
              <a:rPr lang="en-IN" dirty="0" err="1">
                <a:solidFill>
                  <a:schemeClr val="tx1"/>
                </a:solidFill>
              </a:rPr>
              <a:t>Dinh</a:t>
            </a:r>
            <a:r>
              <a:rPr lang="en-IN" dirty="0">
                <a:solidFill>
                  <a:schemeClr val="tx1"/>
                </a:solidFill>
              </a:rPr>
              <a:t>, Ha &amp; Field, Adam &amp; Flynn, Jordan &amp; </a:t>
            </a:r>
            <a:r>
              <a:rPr lang="en-IN" dirty="0" err="1">
                <a:solidFill>
                  <a:schemeClr val="tx1"/>
                </a:solidFill>
              </a:rPr>
              <a:t>Jenssen</a:t>
            </a:r>
            <a:r>
              <a:rPr lang="en-IN" dirty="0">
                <a:solidFill>
                  <a:schemeClr val="tx1"/>
                </a:solidFill>
              </a:rPr>
              <a:t>, Curtis &amp; Kress, Daniel &amp; Moon, Anna &amp; </a:t>
            </a:r>
            <a:r>
              <a:rPr lang="en-IN" dirty="0" err="1">
                <a:solidFill>
                  <a:schemeClr val="tx1"/>
                </a:solidFill>
              </a:rPr>
              <a:t>Ninh</a:t>
            </a:r>
            <a:r>
              <a:rPr lang="en-IN" dirty="0">
                <a:solidFill>
                  <a:schemeClr val="tx1"/>
                </a:solidFill>
              </a:rPr>
              <a:t>, Francis &amp; </a:t>
            </a:r>
            <a:r>
              <a:rPr lang="en-IN" dirty="0" err="1">
                <a:solidFill>
                  <a:schemeClr val="tx1"/>
                </a:solidFill>
              </a:rPr>
              <a:t>Nordmeier</a:t>
            </a:r>
            <a:r>
              <a:rPr lang="en-IN" dirty="0">
                <a:solidFill>
                  <a:schemeClr val="tx1"/>
                </a:solidFill>
              </a:rPr>
              <a:t>, Andrew. (Jan 2008), </a:t>
            </a:r>
            <a:r>
              <a:rPr lang="en-US" b="0" i="0" dirty="0">
                <a:solidFill>
                  <a:schemeClr val="tx1"/>
                </a:solidFill>
                <a:effectLst/>
                <a:latin typeface="Roboto" panose="02000000000000000000" pitchFamily="2" charset="0"/>
              </a:rPr>
              <a:t>Mixing of Liquids in Microfluidic Devices</a:t>
            </a:r>
            <a:r>
              <a:rPr lang="en-IN" dirty="0">
                <a:solidFill>
                  <a:schemeClr val="tx1"/>
                </a:solidFill>
              </a:rPr>
              <a:t>. Pg, 2.</a:t>
            </a:r>
            <a:endParaRPr lang="en-IN" dirty="0"/>
          </a:p>
          <a:p>
            <a:pPr marL="342891" indent="-342891">
              <a:buFont typeface="+mj-lt"/>
              <a:buAutoNum type="arabicPeriod"/>
            </a:pPr>
            <a:endParaRPr lang="en-US" dirty="0">
              <a:solidFill>
                <a:schemeClr val="tx1"/>
              </a:solidFill>
            </a:endParaRPr>
          </a:p>
          <a:p>
            <a:pPr marL="342891" indent="-342891">
              <a:buFont typeface="+mj-lt"/>
              <a:buAutoNum type="arabicPeriod"/>
            </a:pPr>
            <a:endParaRPr lang="en-IN" dirty="0"/>
          </a:p>
        </p:txBody>
      </p:sp>
    </p:spTree>
    <p:extLst>
      <p:ext uri="{BB962C8B-B14F-4D97-AF65-F5344CB8AC3E}">
        <p14:creationId xmlns:p14="http://schemas.microsoft.com/office/powerpoint/2010/main" val="455094698"/>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1ACD10-29A1-9050-C84E-062C1F60678F}"/>
              </a:ext>
            </a:extLst>
          </p:cNvPr>
          <p:cNvSpPr/>
          <p:nvPr/>
        </p:nvSpPr>
        <p:spPr>
          <a:xfrm>
            <a:off x="1883228" y="728260"/>
            <a:ext cx="8425543" cy="5401479"/>
          </a:xfrm>
          <a:prstGeom prst="rect">
            <a:avLst/>
          </a:prstGeom>
          <a:noFill/>
        </p:spPr>
        <p:txBody>
          <a:bodyPr wrap="square" lIns="91440" tIns="45720" rIns="91440" bIns="45720">
            <a:spAutoFit/>
          </a:bodyPr>
          <a:lstStyle/>
          <a:p>
            <a:pPr algn="ctr"/>
            <a:r>
              <a:rPr lang="en-IN" sz="115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cs typeface="Calibri Light" panose="020F0302020204030204" pitchFamily="34" charset="0"/>
              </a:rPr>
              <a:t>Thanks You</a:t>
            </a:r>
          </a:p>
          <a:p>
            <a:pPr algn="ctr"/>
            <a:r>
              <a:rPr lang="en-IN" sz="115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cs typeface="Calibri Light" panose="020F0302020204030204" pitchFamily="34" charset="0"/>
              </a:rPr>
              <a:t>For</a:t>
            </a:r>
          </a:p>
          <a:p>
            <a:pPr algn="ctr"/>
            <a:r>
              <a:rPr lang="en-IN" sz="115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cs typeface="Calibri Light" panose="020F0302020204030204" pitchFamily="34" charset="0"/>
              </a:rPr>
              <a:t>Listening</a:t>
            </a:r>
          </a:p>
        </p:txBody>
      </p:sp>
    </p:spTree>
    <p:extLst>
      <p:ext uri="{BB962C8B-B14F-4D97-AF65-F5344CB8AC3E}">
        <p14:creationId xmlns:p14="http://schemas.microsoft.com/office/powerpoint/2010/main" val="254541883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AA0E4788921E646A9CD6B1955342559" ma:contentTypeVersion="12" ma:contentTypeDescription="Create a new document." ma:contentTypeScope="" ma:versionID="6ad0916ff69dfae11f903094d3fe41e3">
  <xsd:schema xmlns:xsd="http://www.w3.org/2001/XMLSchema" xmlns:xs="http://www.w3.org/2001/XMLSchema" xmlns:p="http://schemas.microsoft.com/office/2006/metadata/properties" xmlns:ns3="54b7e5df-fd63-4c52-9fc1-ae99a04c60d4" xmlns:ns4="ee479ec2-de9d-4f5f-8958-4966e5476d3a" targetNamespace="http://schemas.microsoft.com/office/2006/metadata/properties" ma:root="true" ma:fieldsID="eb4c2eab1e3c3771a87156a19a7c6e92" ns3:_="" ns4:_="">
    <xsd:import namespace="54b7e5df-fd63-4c52-9fc1-ae99a04c60d4"/>
    <xsd:import namespace="ee479ec2-de9d-4f5f-8958-4966e5476d3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b7e5df-fd63-4c52-9fc1-ae99a04c60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e479ec2-de9d-4f5f-8958-4966e5476d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1AAD2E-A6C4-46F5-B54D-1AB9082D9CA9}">
  <ds:schemaRefs>
    <ds:schemaRef ds:uri="http://schemas.microsoft.com/sharepoint/v3/contenttype/forms"/>
  </ds:schemaRefs>
</ds:datastoreItem>
</file>

<file path=customXml/itemProps2.xml><?xml version="1.0" encoding="utf-8"?>
<ds:datastoreItem xmlns:ds="http://schemas.openxmlformats.org/officeDocument/2006/customXml" ds:itemID="{B9E72F8D-CAD1-4E0A-B991-1E6B56A539BE}">
  <ds:schemaRefs>
    <ds:schemaRef ds:uri="http://schemas.microsoft.com/office/2006/metadata/contentType"/>
    <ds:schemaRef ds:uri="http://schemas.microsoft.com/office/2006/metadata/properties/metaAttributes"/>
    <ds:schemaRef ds:uri="http://www.w3.org/2000/xmlns/"/>
    <ds:schemaRef ds:uri="http://www.w3.org/2001/XMLSchema"/>
    <ds:schemaRef ds:uri="54b7e5df-fd63-4c52-9fc1-ae99a04c60d4"/>
    <ds:schemaRef ds:uri="ee479ec2-de9d-4f5f-8958-4966e5476d3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BE604B5-8E53-4766-9CD6-8E0760D1E77E}">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Parcel</Template>
  <TotalTime>3749</TotalTime>
  <Words>1072</Words>
  <Application>Microsoft Office PowerPoint</Application>
  <PresentationFormat>Widescreen</PresentationFormat>
  <Paragraphs>146</Paragraphs>
  <Slides>16</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Abadi</vt:lpstr>
      <vt:lpstr>Arial</vt:lpstr>
      <vt:lpstr>Calibri</vt:lpstr>
      <vt:lpstr>Gill Sans MT</vt:lpstr>
      <vt:lpstr>Open Sans</vt:lpstr>
      <vt:lpstr>Roboto</vt:lpstr>
      <vt:lpstr>Parcel</vt:lpstr>
      <vt:lpstr>Flow Cell Design for Microfluidic flow Study</vt:lpstr>
      <vt:lpstr>Summary</vt:lpstr>
      <vt:lpstr>PowerPoint Presentation</vt:lpstr>
      <vt:lpstr>Flow Cell</vt:lpstr>
      <vt:lpstr>Application of  Flow Cell</vt:lpstr>
      <vt:lpstr>Typical Designs of Flow Cell</vt:lpstr>
      <vt:lpstr>Flow Properties</vt:lpstr>
      <vt:lpstr>Numerical ModeL Study</vt:lpstr>
      <vt:lpstr>Design Implementations</vt:lpstr>
      <vt:lpstr>Results</vt:lpstr>
      <vt:lpstr>Results</vt:lpstr>
      <vt:lpstr>Result Verification</vt:lpstr>
      <vt:lpstr>Prospective work</vt:lpstr>
      <vt:lpstr>Questions answered</vt:lpstr>
      <vt:lpstr>Works cited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Centrifugal Micro-fluidic Biochip</dc:title>
  <dc:creator>Nisarg Makwana [mn21nmm]</dc:creator>
  <cp:lastModifiedBy>Nisarg Makwana [mn21nmm]</cp:lastModifiedBy>
  <cp:revision>19</cp:revision>
  <dcterms:created xsi:type="dcterms:W3CDTF">2022-06-26T15:44:50Z</dcterms:created>
  <dcterms:modified xsi:type="dcterms:W3CDTF">2022-08-12T15:11:59Z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0x010100FAA0E4788921E646A9CD6B1955342559</vt:lpwstr>
  </property>
</Properties>
</file>